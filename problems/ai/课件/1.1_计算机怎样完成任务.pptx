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57263ba70f4c8c" /><Relationship Type="http://schemas.openxmlformats.org/officeDocument/2006/relationships/extended-properties" Target="/docProps/app.xml" Id="R64604638f89b414a" /><Relationship Type="http://schemas.openxmlformats.org/officeDocument/2006/relationships/officeDocument" Target="/ppt/presentation.xml" Id="R8cc17c06adba42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5537fa44874e1a"/>
  </p:sldMasterIdLst>
  <p:notesMasterIdLst>
    <p:notesMasterId xmlns:r="http://schemas.openxmlformats.org/officeDocument/2006/relationships" r:id="R08202585f28549ca"/>
  </p:notesMasterIdLst>
  <p:sldIdLst>
    <p:sldId xmlns:r="http://schemas.openxmlformats.org/officeDocument/2006/relationships" id="256" r:id="R25fed4b39d4c44de"/>
    <p:sldId xmlns:r="http://schemas.openxmlformats.org/officeDocument/2006/relationships" id="257" r:id="R1b33a7b625af45a3"/>
    <p:sldId xmlns:r="http://schemas.openxmlformats.org/officeDocument/2006/relationships" id="258" r:id="R7cc774b44cdc421f"/>
    <p:sldId xmlns:r="http://schemas.openxmlformats.org/officeDocument/2006/relationships" id="259" r:id="R55a5e93c1fd143f2"/>
    <p:sldId xmlns:r="http://schemas.openxmlformats.org/officeDocument/2006/relationships" id="260" r:id="Rf4cc65248c1f4259"/>
    <p:sldId xmlns:r="http://schemas.openxmlformats.org/officeDocument/2006/relationships" id="261" r:id="Rfcf86abf130c4cdd"/>
    <p:sldId xmlns:r="http://schemas.openxmlformats.org/officeDocument/2006/relationships" id="262" r:id="R502ef6272d1645f7"/>
    <p:sldId xmlns:r="http://schemas.openxmlformats.org/officeDocument/2006/relationships" id="263" r:id="R66ab22c057e7429c"/>
    <p:sldId xmlns:r="http://schemas.openxmlformats.org/officeDocument/2006/relationships" id="264" r:id="Rb459b038c8a94f13"/>
    <p:sldId xmlns:r="http://schemas.openxmlformats.org/officeDocument/2006/relationships" id="265" r:id="Rc42c314bbd5b4ae6"/>
    <p:sldId xmlns:r="http://schemas.openxmlformats.org/officeDocument/2006/relationships" id="266" r:id="R552049eaa9364d28"/>
    <p:sldId xmlns:r="http://schemas.openxmlformats.org/officeDocument/2006/relationships" id="267" r:id="Rffe44125df7b4a34"/>
    <p:sldId xmlns:r="http://schemas.openxmlformats.org/officeDocument/2006/relationships" id="268" r:id="Rc0c896e011e94e1a"/>
    <p:sldId xmlns:r="http://schemas.openxmlformats.org/officeDocument/2006/relationships" id="269" r:id="Ra9ad7c2d14344c27"/>
    <p:sldId xmlns:r="http://schemas.openxmlformats.org/officeDocument/2006/relationships" id="270" r:id="R993b8e11c6634f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2411653a3b452c" /><Relationship Type="http://schemas.openxmlformats.org/officeDocument/2006/relationships/slideMaster" Target="/ppt/slideMasters/slideMaster1.xml" Id="R3b5537fa44874e1a" /><Relationship Type="http://schemas.openxmlformats.org/officeDocument/2006/relationships/notesMaster" Target="/ppt/notesMasters/notesMaster1.xml" Id="R08202585f28549ca" /><Relationship Type="http://schemas.openxmlformats.org/officeDocument/2006/relationships/presProps" Target="/ppt/presProps.xml" Id="Rf7b700f76da94fd2" /><Relationship Type="http://schemas.openxmlformats.org/officeDocument/2006/relationships/tableStyles" Target="/ppt/tableStyles.xml" Id="R014a7ff71d1b45b3" /><Relationship Type="http://schemas.openxmlformats.org/officeDocument/2006/relationships/slide" Target="/ppt/slides/slide1.xml" Id="R25fed4b39d4c44de" /><Relationship Type="http://schemas.openxmlformats.org/officeDocument/2006/relationships/slide" Target="/ppt/slides/slide2.xml" Id="R1b33a7b625af45a3" /><Relationship Type="http://schemas.openxmlformats.org/officeDocument/2006/relationships/slide" Target="/ppt/slides/slide3.xml" Id="R7cc774b44cdc421f" /><Relationship Type="http://schemas.openxmlformats.org/officeDocument/2006/relationships/slide" Target="/ppt/slides/slide4.xml" Id="R55a5e93c1fd143f2" /><Relationship Type="http://schemas.openxmlformats.org/officeDocument/2006/relationships/slide" Target="/ppt/slides/slide5.xml" Id="Rf4cc65248c1f4259" /><Relationship Type="http://schemas.openxmlformats.org/officeDocument/2006/relationships/slide" Target="/ppt/slides/slide6.xml" Id="Rfcf86abf130c4cdd" /><Relationship Type="http://schemas.openxmlformats.org/officeDocument/2006/relationships/slide" Target="/ppt/slides/slide7.xml" Id="R502ef6272d1645f7" /><Relationship Type="http://schemas.openxmlformats.org/officeDocument/2006/relationships/slide" Target="/ppt/slides/slide8.xml" Id="R66ab22c057e7429c" /><Relationship Type="http://schemas.openxmlformats.org/officeDocument/2006/relationships/slide" Target="/ppt/slides/slide9.xml" Id="Rb459b038c8a94f13" /><Relationship Type="http://schemas.openxmlformats.org/officeDocument/2006/relationships/slide" Target="/ppt/slides/slide10.xml" Id="Rc42c314bbd5b4ae6" /><Relationship Type="http://schemas.openxmlformats.org/officeDocument/2006/relationships/slide" Target="/ppt/slides/slide11.xml" Id="R552049eaa9364d28" /><Relationship Type="http://schemas.openxmlformats.org/officeDocument/2006/relationships/slide" Target="/ppt/slides/slide12.xml" Id="Rffe44125df7b4a34" /><Relationship Type="http://schemas.openxmlformats.org/officeDocument/2006/relationships/slide" Target="/ppt/slides/slide13.xml" Id="Rc0c896e011e94e1a" /><Relationship Type="http://schemas.openxmlformats.org/officeDocument/2006/relationships/slide" Target="/ppt/slides/slide14.xml" Id="Ra9ad7c2d14344c27" /><Relationship Type="http://schemas.openxmlformats.org/officeDocument/2006/relationships/slide" Target="/ppt/slides/slide15.xml" Id="R993b8e11c6634f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57954a177649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48c39202da47f9" /><Relationship Type="http://schemas.openxmlformats.org/officeDocument/2006/relationships/notesMaster" Target="/ppt/notesMasters/notesMaster1.xml" Id="Re945014a45a240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49e2df8a4641f3" /><Relationship Type="http://schemas.openxmlformats.org/officeDocument/2006/relationships/notesMaster" Target="/ppt/notesMasters/notesMaster1.xml" Id="Re0ff5d94c22042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9a97d6add7492d" /><Relationship Type="http://schemas.openxmlformats.org/officeDocument/2006/relationships/notesMaster" Target="/ppt/notesMasters/notesMaster1.xml" Id="R58ddcb2202ab40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3485cc2d994664" /><Relationship Type="http://schemas.openxmlformats.org/officeDocument/2006/relationships/notesMaster" Target="/ppt/notesMasters/notesMaster1.xml" Id="Rfa33521029044e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37074b1a8342be" /><Relationship Type="http://schemas.openxmlformats.org/officeDocument/2006/relationships/notesMaster" Target="/ppt/notesMasters/notesMaster1.xml" Id="R61f2393c58c34a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a92ea0735a42ec" /><Relationship Type="http://schemas.openxmlformats.org/officeDocument/2006/relationships/notesMaster" Target="/ppt/notesMasters/notesMaster1.xml" Id="Re74a14e6b6d44f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79bae63d7a41cf" /><Relationship Type="http://schemas.openxmlformats.org/officeDocument/2006/relationships/notesMaster" Target="/ppt/notesMasters/notesMaster1.xml" Id="R64be0f7e3dd149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d8945ab4a94d79" /><Relationship Type="http://schemas.openxmlformats.org/officeDocument/2006/relationships/notesMaster" Target="/ppt/notesMasters/notesMaster1.xml" Id="Rdb95ad48dae44f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e1d03c50d14ed4" /><Relationship Type="http://schemas.openxmlformats.org/officeDocument/2006/relationships/notesMaster" Target="/ppt/notesMasters/notesMaster1.xml" Id="R9a99179d58af42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ac974be42e4717" /><Relationship Type="http://schemas.openxmlformats.org/officeDocument/2006/relationships/notesMaster" Target="/ppt/notesMasters/notesMaster1.xml" Id="R15eaa969fa7843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04f10f8ced44b1" /><Relationship Type="http://schemas.openxmlformats.org/officeDocument/2006/relationships/notesMaster" Target="/ppt/notesMasters/notesMaster1.xml" Id="R2f18c5070479414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7ff8cff2514f21" /><Relationship Type="http://schemas.openxmlformats.org/officeDocument/2006/relationships/notesMaster" Target="/ppt/notesMasters/notesMaster1.xml" Id="R46cfb6b26a484d8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7972a199a941ab" /><Relationship Type="http://schemas.openxmlformats.org/officeDocument/2006/relationships/notesMaster" Target="/ppt/notesMasters/notesMaster1.xml" Id="R5bcd5e08701841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da894e9e9e41a4" /><Relationship Type="http://schemas.openxmlformats.org/officeDocument/2006/relationships/notesMaster" Target="/ppt/notesMasters/notesMaster1.xml" Id="Rf280f671e6814c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011218e0a948b5" /><Relationship Type="http://schemas.openxmlformats.org/officeDocument/2006/relationships/notesMaster" Target="/ppt/notesMasters/notesMaster1.xml" Id="Rcf058e394afa44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教师话术：</a:t>
            </a:r>
          </a:p>
          <a:p xmlns:a="http://schemas.openxmlformats.org/drawingml/2006/main">
            <a:r>
              <a:t>今天我们先不写代码。先研究一个基础问题：计算机怎样知道自己应该做什么？今天会认识三个词，指令、程序和算法。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教师话术：</a:t>
            </a:r>
          </a:p>
          <a:p xmlns:a="http://schemas.openxmlformats.org/drawingml/2006/main">
            <a:r>
              <a:t>快速说明今天的三个问题，不要求学生立刻记定义。告诉学生，接下来的活动会一步一步找到答案。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建议时长：1分10秒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教师话术：</a:t>
            </a:r>
          </a:p>
          <a:p xmlns:a="http://schemas.openxmlformats.org/drawingml/2006/main">
            <a:r>
              <a:t>请学生观察这句话，给同桌20秒讨论。追问哪边、走几步、在哪里停。邀请一名学生改写，例如向前走5步，在红线前停下。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教师话术：</a:t>
            </a:r>
          </a:p>
          <a:p xmlns:a="http://schemas.openxmlformats.org/drawingml/2006/main">
            <a:r>
              <a:t>说明人与计算机的差别。人会利用场景和经验补全信息，计算机只按照收到的指令执行。引出本节第一个结论：指令必须清楚。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教师话术：</a:t>
            </a:r>
          </a:p>
          <a:p xmlns:a="http://schemas.openxmlformats.org/drawingml/2006/main">
            <a:r>
              <a:t>让学生比较两种说法。右边说明了物品在哪里，也说明了物品的颜色和种类。强调明确不是说得很长，而是提供完成任务所需的信息。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教师话术：</a:t>
            </a:r>
          </a:p>
          <a:p xmlns:a="http://schemas.openxmlformats.org/drawingml/2006/main">
            <a:r>
              <a:t>用拿起桌上的红色水杯解释动作、对象和位置。再用向前走5步解释数量或程度。提醒学生，不要求每条指令都包含四项，只需要把完成任务所需的信息说清楚。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教师话术：</a:t>
            </a:r>
          </a:p>
          <a:p xmlns:a="http://schemas.openxmlformats.org/drawingml/2006/main">
            <a:r>
              <a:t>逐条读题，学生用拇指向上或向下判断。第一条和第三条信息明确，可以执行。第二条中的那边不明确。教师可以遮住右侧答案区域后再公布。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建议时长：1分10秒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教师话术：</a:t>
            </a:r>
          </a:p>
          <a:p xmlns:a="http://schemas.openxmlformats.org/drawingml/2006/main">
            <a:r>
              <a:t>给学生15秒独立思考，再请一人说出顺序。追问：如果先按按钮，再放杯子，会发生什么？暂时不要讲程序定义，先让学生感受顺序的重要性。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教师话术：</a:t>
            </a:r>
          </a:p>
          <a:p xmlns:a="http://schemas.openxmlformats.org/drawingml/2006/main">
            <a:r>
              <a:t>公布C、B、D、A。指出一个容易忽略的地方：每一条单独看都没有错，但排列顺序错误时，任务仍然会失败。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教师话术：</a:t>
            </a:r>
          </a:p>
          <a:p xmlns:a="http://schemas.openxmlformats.org/drawingml/2006/main">
            <a:r>
              <a:t>用错误顺序演示后果。说明计算机通常不会替我们调整顺序，它会严格执行。因此编写程序时既要检查每条指令，也要检查先后顺序。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教师话术：</a:t>
            </a:r>
          </a:p>
          <a:p xmlns:a="http://schemas.openxmlformats.org/drawingml/2006/main">
            <a:r>
              <a:t>完整读一遍定义。强调程序是写给计算机执行的，所以通常要使用编程语言。今天先理解概念，下一小节会开始接触Python指令。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教师话术：</a:t>
            </a:r>
          </a:p>
          <a:p xmlns:a="http://schemas.openxmlformats.org/drawingml/2006/main">
            <a:r>
              <a:t>说明刷牙、接水等生活步骤只是帮助理解。真正的计算机程序要用编程语言编写，并遵守语言规则。计算机执行时不会像人一样灵活补充省略的信息。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建议时长：1分10秒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教师话术：</a:t>
            </a:r>
          </a:p>
          <a:p xmlns:a="http://schemas.openxmlformats.org/drawingml/2006/main">
            <a:r>
              <a:t>解释有限和明确。有限表示步骤不能永远做下去，明确表示每一步都能理解和执行。接水步骤就是一个简单算法，因为它从明确任务出发，经过有限步骤得到结果。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建议时长：1分20秒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教师话术：</a:t>
            </a:r>
          </a:p>
          <a:p xmlns:a="http://schemas.openxmlformats.org/drawingml/2006/main">
            <a:r>
              <a:t>先分别解释两边，再说出联系。算法关注怎样解决问题，程序关注怎样用编程语言把解决步骤交给计算机。一个问题可能有不同算法，同一个算法也能用不同编程语言写成程序。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建议时长：1分20秒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教师话术：</a:t>
            </a:r>
          </a:p>
          <a:p xmlns:a="http://schemas.openxmlformats.org/drawingml/2006/main">
            <a:r>
              <a:t>第一题请学生说出缺少方向、距离或停止位置。第二题答案是可能，顺序错误也会导致任务失败。第三题让学生用自己的话回答。总结：先想清解决步骤，再写成明确、有序的计算机指令。整套课件建议用时约14分40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1c3178f7041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0d33eaa48c43ab" /><Relationship Type="http://schemas.openxmlformats.org/officeDocument/2006/relationships/slideLayout" Target="/ppt/slideLayouts/slideLayout1.xml" Id="Rbcbd2101c63a42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bd2101c63a42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7117530924312" /><Relationship Type="http://schemas.openxmlformats.org/officeDocument/2006/relationships/notesSlide" Target="/ppt/notesSlides/notesSlide1.xml" Id="R183182fa87464b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d9470de3541bf" /><Relationship Type="http://schemas.openxmlformats.org/officeDocument/2006/relationships/notesSlide" Target="/ppt/notesSlides/notesSlide2.xml" Id="Rdc500dd2de0a49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26dad13604f7b" /><Relationship Type="http://schemas.openxmlformats.org/officeDocument/2006/relationships/notesSlide" Target="/ppt/notesSlides/notesSlide3.xml" Id="R39ed57317a5f45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b7c76964e422b" /><Relationship Type="http://schemas.openxmlformats.org/officeDocument/2006/relationships/notesSlide" Target="/ppt/notesSlides/notesSlide4.xml" Id="R8f300e2c59824d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3218589df4a58" /><Relationship Type="http://schemas.openxmlformats.org/officeDocument/2006/relationships/notesSlide" Target="/ppt/notesSlides/notesSlide5.xml" Id="R6cf7b9bdd1b441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ad7d584bd4f18" /><Relationship Type="http://schemas.openxmlformats.org/officeDocument/2006/relationships/notesSlide" Target="/ppt/notesSlides/notesSlide6.xml" Id="Rd8bcdfa94fe14d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2d149ca19404b" /><Relationship Type="http://schemas.openxmlformats.org/officeDocument/2006/relationships/notesSlide" Target="/ppt/notesSlides/notesSlide7.xml" Id="R91e5b6f059584e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ca5755f344875" /><Relationship Type="http://schemas.openxmlformats.org/officeDocument/2006/relationships/notesSlide" Target="/ppt/notesSlides/notesSlide8.xml" Id="Rd93db06e41474f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3f545f0094d27" /><Relationship Type="http://schemas.openxmlformats.org/officeDocument/2006/relationships/notesSlide" Target="/ppt/notesSlides/notesSlide9.xml" Id="R18563356558842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4ac8c55da4ad9" /><Relationship Type="http://schemas.openxmlformats.org/officeDocument/2006/relationships/notesSlide" Target="/ppt/notesSlides/notesSlide10.xml" Id="Rff163450f98548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a5b3b2ea4427c" /><Relationship Type="http://schemas.openxmlformats.org/officeDocument/2006/relationships/notesSlide" Target="/ppt/notesSlides/notesSlide11.xml" Id="Re783048c1cde4a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a94a8ec924f07" /><Relationship Type="http://schemas.openxmlformats.org/officeDocument/2006/relationships/notesSlide" Target="/ppt/notesSlides/notesSlide12.xml" Id="R604d6c50dbae44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979f90d9f467a" /><Relationship Type="http://schemas.openxmlformats.org/officeDocument/2006/relationships/notesSlide" Target="/ppt/notesSlides/notesSlide13.xml" Id="R568fc520325b42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24746096c458b" /><Relationship Type="http://schemas.openxmlformats.org/officeDocument/2006/relationships/notesSlide" Target="/ppt/notesSlides/notesSlide14.xml" Id="R5c74093a74fe47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2f4a7c54e4bce" /><Relationship Type="http://schemas.openxmlformats.org/officeDocument/2006/relationships/notesSlide" Target="/ppt/notesSlides/notesSlide15.xml" Id="R4319f58caaf247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3438E-BC6A-4686-81B4-8DC1728B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171450" cy="476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0D595-8306-4DC5-8414-019F96FD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477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第一单元 · 第一小节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9E56D-2219-4DC2-A556-BFE565C1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1450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计算机怎样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完成任务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D3B47-B152-4632-B785-6A160B6D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5762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rPr>
              <a:t>指令　程序　算法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3CD17-2753-41AB-AC89-F57C4E93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219075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6208A-9DE3-4855-B28A-570358B4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2190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95650-958A-4F5D-B581-F3D3AE69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先让学生说，再给出定义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41F16-C656-4084-9FD5-5C0B86A4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86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1/15　建议用时 30秒</a:t>
            </a:r>
          </a:p>
        </p:txBody>
      </p:sp>
    </p:spTree>
    <p:extLst>
      <p:ext uri="{BB962C8B-B14F-4D97-AF65-F5344CB8AC3E}">
        <p14:creationId xmlns:p14="http://schemas.microsoft.com/office/powerpoint/2010/main" val="1975076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D6F82C-27FF-43E2-B1E5-41D7072B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今天要解决的三个问题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94A03-BBF6-42B4-96D6-A1191496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2/15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B347D-8175-4A5E-969B-52380260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建议用时 40秒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5CDB2-C095-4315-9640-5ABB1F0B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857500" cy="2714625"/>
          </a:xfrm>
          <a:prstGeom xmlns:a="http://schemas.openxmlformats.org/drawingml/2006/main" prst="roundRect">
            <a:avLst>
              <a:gd name="adj" fmla="val 9123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952F9-30AF-4ED1-821F-901F4526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431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7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62965-F0AE-448D-B63C-AFC305B7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什么样的指令</a:t>
            </a:r>
          </a:p>
          <a:p xmlns:a="http://schemas.openxmlformats.org/drawingml/2006/main">
            <a:pPr algn="ctr">
              <a:defRPr sz="217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计算机才能听懂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2BE31-FD09-4F6A-A4E6-FD831214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952625"/>
            <a:ext cx="2857500" cy="2714625"/>
          </a:xfrm>
          <a:prstGeom xmlns:a="http://schemas.openxmlformats.org/drawingml/2006/main" prst="roundRect">
            <a:avLst>
              <a:gd name="adj" fmla="val 9123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90A64-3995-42E7-8F87-2EE7CDA8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1431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B21F0-9B13-4F21-89C2-BE2A57D1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03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多条指令怎样</a:t>
            </a:r>
          </a:p>
          <a:p xmlns:a="http://schemas.openxmlformats.org/drawingml/2006/main">
            <a:pPr algn="ctr">
              <a:defRPr sz="217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组成一个程序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8C31E-3493-4F2A-A518-58A7DB2D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2857500" cy="2714625"/>
          </a:xfrm>
          <a:prstGeom xmlns:a="http://schemas.openxmlformats.org/drawingml/2006/main" prst="roundRect">
            <a:avLst>
              <a:gd name="adj" fmla="val 9123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5C73B3-12CE-41B7-8094-4406CCBD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14312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75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EB63A-9835-4698-8834-DAAFA336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解决问题的步骤</a:t>
            </a:r>
          </a:p>
          <a:p xmlns:a="http://schemas.openxmlformats.org/drawingml/2006/main">
            <a:pPr algn="ctr">
              <a:defRPr sz="217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为什么叫算法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86CDE-66CC-424F-9EF9-534D3AEA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8637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rPr>
              <a:t>最后能用自己的话解释这三个词</a:t>
            </a:r>
          </a:p>
        </p:txBody>
      </p:sp>
    </p:spTree>
    <p:extLst>
      <p:ext uri="{BB962C8B-B14F-4D97-AF65-F5344CB8AC3E}">
        <p14:creationId xmlns:p14="http://schemas.microsoft.com/office/powerpoint/2010/main" val="15406541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8E855-F986-41A9-96C2-64587C61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一句让机器人困惑的话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6BBAE-B593-469E-B9C7-B63347BD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3/15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1A203-D3D0-47C5-A213-5B62BC86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建议用时 1分10秒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304C0-9E24-4060-ADAF-8BEC0D20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695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050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rPr>
              <a:t>“走到那边去。”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7F398-A440-4B93-BC59-2C3946DE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机器人应该怎么做？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B1C63-B4FC-49F7-82F3-5C4B838A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24000"/>
            <a:ext cx="2381250" cy="2952750"/>
          </a:xfrm>
          <a:prstGeom xmlns:a="http://schemas.openxmlformats.org/drawingml/2006/main" prst="roundRect">
            <a:avLst>
              <a:gd name="adj" fmla="val 11200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D02E4-1391-4BDB-9EDB-FB188CAD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907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机器人想问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8423C-C963-45DE-8180-2D02E1A3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81250"/>
            <a:ext cx="190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哪边？</a:t>
            </a:r>
          </a:p>
          <a:p xmlns:a="http://schemas.openxmlformats.org/drawingml/2006/main">
            <a:pPr algn="ctr">
              <a:defRPr sz="225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走几步？</a:t>
            </a:r>
          </a:p>
          <a:p xmlns:a="http://schemas.openxmlformats.org/drawingml/2006/main">
            <a:pPr algn="ctr">
              <a:defRPr sz="225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在哪里停？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E161A-6868-490E-9504-7593630B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同桌讨论 20 秒：怎样把这句话说清楚？</a:t>
            </a:r>
          </a:p>
        </p:txBody>
      </p:sp>
    </p:spTree>
    <p:extLst>
      <p:ext uri="{BB962C8B-B14F-4D97-AF65-F5344CB8AC3E}">
        <p14:creationId xmlns:p14="http://schemas.microsoft.com/office/powerpoint/2010/main" val="324817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177AB-65E4-4FDA-B44C-6EF22326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计算机只执行收到的指令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D0C6C-C7C1-4DE6-9B77-37B7AB0D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4/15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7B4FB-6D1B-40F1-84D6-6669ACA6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建议用时 50秒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56602-A2E9-4B11-99AF-7BBA9EDB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192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人听到含糊的话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3D8CA-CC74-44C0-ADFB-A0A604F6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可能根据经验猜一猜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F16B2-A312-4318-AFFB-934C4D2B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rPr>
              <a:t>计算机收到含糊的指令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8CC0D-9D21-4948-AEE0-FC8BA8E0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4524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无法知道你真正的意思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1EF6C-152A-4509-9E5A-87CA38E9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100965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D6688-1B1F-4E9B-AA6C-BBBB1865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957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给计算机的指令必须说清楚</a:t>
            </a:r>
          </a:p>
        </p:txBody>
      </p:sp>
    </p:spTree>
    <p:extLst>
      <p:ext uri="{BB962C8B-B14F-4D97-AF65-F5344CB8AC3E}">
        <p14:creationId xmlns:p14="http://schemas.microsoft.com/office/powerpoint/2010/main" val="2430240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53809-EC42-4BBD-BDDA-74552F20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同一个任务，两种说法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B969F-B512-41E2-95AF-C76B5748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5/15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FE692-37E0-4C35-9B86-75DD2CD9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建议用时 1分钟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7691C-9121-4FB7-81C9-D9760A10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335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rPr>
              <a:t>不够明确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1E230-302C-4670-8A78-CD2A486E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335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rPr>
              <a:t>更明确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827F5-964A-4467-8880-77DFD55D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4619625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57F96-B006-4C1F-A823-872EA94F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24125"/>
            <a:ext cx="4048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rPr>
              <a:t>把东西拿过来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D2AB2-9460-4102-81A1-431CF67F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619625" cy="1714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CCC0C-8468-43C0-AFCE-7231BB6E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048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rPr>
              <a:t>拿起桌上的</a:t>
            </a:r>
          </a:p>
          <a:p xmlns:a="http://schemas.openxmlformats.org/drawingml/2006/main">
            <a:pPr algn="ctr">
              <a:defRPr sz="2550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rPr>
              <a:t>红色水杯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AAEFE-0F2D-4584-8C80-EFBA5D2F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672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右边增加了哪些信息？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B7A46-B58A-4CFA-A8A2-B0B8454E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34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位置和物品特征</a:t>
            </a:r>
          </a:p>
        </p:txBody>
      </p:sp>
    </p:spTree>
    <p:extLst>
      <p:ext uri="{BB962C8B-B14F-4D97-AF65-F5344CB8AC3E}">
        <p14:creationId xmlns:p14="http://schemas.microsoft.com/office/powerpoint/2010/main" val="8705539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6017EA-BD23-4D2F-86C3-363964A5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一条清楚的指令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83D496-003D-405F-AC92-51BA76DB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6/15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4BD5C-27D0-494A-9D4C-9E1DC588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建议用时 1分钟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80A60-F69A-4558-8448-A71BDA2C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476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8A5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33E02-FB66-4FB4-8804-05A4CECC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0002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A5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54E65E-FE37-49D1-BA26-892996E3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动作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B5127-E976-4F81-9C45-B21E77E2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拿起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EEB07-9856-4784-A654-56E4BD14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476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6F9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A1BAF-2792-4F97-919F-22D7B34F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43125"/>
            <a:ext cx="20002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F9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BF5CA-8687-41A0-99D7-5D917983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098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1E469-4EED-4780-8EFE-C026BAA3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43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水杯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33BED-62CA-47E2-9F06-83CE7403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2476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A36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419B4-9C8B-4E01-A5D0-4382E810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20002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A36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ACFFC5-F09C-4F51-A736-0EBDFDCF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810B6-A937-4FB5-BB9F-98D3958D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43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桌上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73689-19BB-4C25-AC96-06AB2946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52625"/>
            <a:ext cx="2476500" cy="2190750"/>
          </a:xfrm>
          <a:prstGeom xmlns:a="http://schemas.openxmlformats.org/drawingml/2006/main" prst="roundRect">
            <a:avLst>
              <a:gd name="adj" fmla="val 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6C85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C7D15-A692-48D1-9848-84EC9D90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43125"/>
            <a:ext cx="20002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906EE-F56D-4AF2-9387-2C6A3FDA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098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数量或程度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77FD1-0292-4AF4-86A3-B245AF95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1个、5步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FE3F1-E178-446A-8FED-06701910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742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任务不同，需要说明的信息也不同</a:t>
            </a:r>
          </a:p>
        </p:txBody>
      </p:sp>
    </p:spTree>
    <p:extLst>
      <p:ext uri="{BB962C8B-B14F-4D97-AF65-F5344CB8AC3E}">
        <p14:creationId xmlns:p14="http://schemas.microsoft.com/office/powerpoint/2010/main" val="4763666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E1650-453E-4E6D-9BC5-1934F242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快速判断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36763-E9F6-4919-A195-6C316E0A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7/15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B3A54-12A5-4490-BE0C-8DD195CA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建议用时 50秒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9EFC0-3382-42FD-B8A0-BB150D5D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8587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适合直接交给机器人吗？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5D169-CE98-4F0B-83AC-8F02A08B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4887E-8851-42DF-B994-70215FA5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907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向前走 3 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C007A-0B6F-4751-9E2C-965FEE05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rPr>
              <a:t>可以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32CA48-D3EF-4333-9DCE-B832ABF7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C70C8-3E20-4D0E-A164-60C040CB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337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去那边看看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382EC-6347-4B41-B586-3DBA1C30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rPr>
              <a:t>不可以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7A99B-305F-450E-8962-B1CF912C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7085B-1B86-40F4-B48B-171FF953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767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等待 5 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6D699-C754-4939-9DF4-457091B0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rPr>
              <a:t>可以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AF5B4-633F-4D69-BF18-225EB5BB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102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先让学生用手势判断，再显示或口头公布答案</a:t>
            </a:r>
          </a:p>
        </p:txBody>
      </p:sp>
    </p:spTree>
    <p:extLst>
      <p:ext uri="{BB962C8B-B14F-4D97-AF65-F5344CB8AC3E}">
        <p14:creationId xmlns:p14="http://schemas.microsoft.com/office/powerpoint/2010/main" val="15400393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DB0A5-4DF8-45E7-A579-CC6378CF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步骤的顺序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411D8-B4B1-4186-A229-CB312228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8/15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097BB-389F-4703-A4CB-A1BF5873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建议用时 1分10秒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8C3C8-3287-4B91-A147-7B0D7100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382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任务：用饮水机接一杯水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22E6C-0129-4AF7-92BD-1ED5F702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4714875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F8A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860F6-CF5A-40EF-8F17-A5DD279E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28875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8A5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4C0F2-5DA8-4DB6-BCF3-1BB90FD9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38400"/>
            <a:ext cx="628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4BB87-F0BB-4BAE-9890-44125E31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76500"/>
            <a:ext cx="338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松开出水按钮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58EAC-767A-4F35-A481-E8BC7052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4714875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6F9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C6988-781A-439E-969C-D4B56256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F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B84E8-F450-41F6-A8F8-54BB563A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38400"/>
            <a:ext cx="628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BEA02-F21F-40C9-8F43-8A5A00ED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476500"/>
            <a:ext cx="338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把水杯放到出水口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A1748-A96B-4CCC-AA5C-B73E1528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714875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6A36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2F32E-1940-4936-A647-509C26FD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A36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8FF39-0E31-44CE-A4DC-B5C41C97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628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85BED-135C-4E93-A856-CB93AD7A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52875"/>
            <a:ext cx="338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拿出水杯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F097A-D2C8-43B9-BC5F-F2248D13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4714875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6C85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740B2-776E-4C51-BD7A-07158415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89874-AC06-440B-AA4E-8AC517B0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14775"/>
            <a:ext cx="628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CB0386-0519-45CD-988C-93035AD8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952875"/>
            <a:ext cx="338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按下出水按钮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E0DE9D-66CB-4009-BE02-B0AEC274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rPr>
              <a:t>请按正确顺序说出字母</a:t>
            </a:r>
          </a:p>
        </p:txBody>
      </p:sp>
    </p:spTree>
    <p:extLst>
      <p:ext uri="{BB962C8B-B14F-4D97-AF65-F5344CB8AC3E}">
        <p14:creationId xmlns:p14="http://schemas.microsoft.com/office/powerpoint/2010/main" val="5803345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DA2592-F3B2-4EEF-9904-4A444BA9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正确顺序决定结果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62B94-37DF-41AB-9A1E-E51DC935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9/15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F0440-B8C5-49AF-87F8-F99C0EB4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建议用时 50秒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C1834-3DB9-4C44-8E0C-8ED66735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381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56A36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573F3-E3DF-4634-A096-F85F8316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609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706B2-C212-4296-84FF-98FA575B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拿出水杯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874ED-8E3E-4A2B-BBEB-E24DE40A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381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E6F9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8CC70-F1FD-482C-B296-9E598940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90750"/>
            <a:ext cx="609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EC482-BC1D-43B2-BC1C-9A068034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52750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放到出水口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E51E5-3A7C-475E-A533-5799B173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2381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23042-F250-470E-9353-05515E4D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90750"/>
            <a:ext cx="609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11E28-EE3E-44A1-B5D5-1F150CAB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52750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按下按钮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4F977-5A1B-4051-8F5F-BBC7F0F7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381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8A5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5802D-A6CA-4A3A-841E-623107EA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609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EE7A4-314C-46C7-845F-46B680CE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52750"/>
            <a:ext cx="1962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松开按钮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22FAE-8CE5-4C2D-8490-32D21C54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012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每条指令都正确，顺序仍然可能出错</a:t>
            </a:r>
          </a:p>
        </p:txBody>
      </p:sp>
    </p:spTree>
    <p:extLst>
      <p:ext uri="{BB962C8B-B14F-4D97-AF65-F5344CB8AC3E}">
        <p14:creationId xmlns:p14="http://schemas.microsoft.com/office/powerpoint/2010/main" val="11700276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3E6B1-8946-4A4E-A5E4-CF43FE71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顺序错误会发生什么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DC1A7-08C3-4038-9CE4-93E9E93F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10/15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746B2-3E29-41A3-8936-EA300F4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建议用时 50秒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04726-BA0C-4968-9D29-F790CF21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4095750" cy="21907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B3AC0-62AC-491F-8738-3415A926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3837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rPr>
              <a:t>错误顺序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093BB-B615-46D3-B5FD-DFA8691D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5275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按下按钮</a:t>
            </a:r>
          </a:p>
          <a:p xmlns:a="http://schemas.openxmlformats.org/drawingml/2006/main">
            <a:pPr algn="ctr">
              <a:defRPr sz="255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再放水杯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9A6DC-3149-4172-894A-2E854896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4095750" cy="21907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AD422-A580-497E-A78F-A85629CF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3837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可能的结果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C16CD-5C1B-4F5A-853D-86527B7B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水洒到外面</a:t>
            </a:r>
          </a:p>
          <a:p xmlns:a="http://schemas.openxmlformats.org/drawingml/2006/main">
            <a:pPr algn="ctr">
              <a:defRPr sz="240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任务没有正确完成</a:t>
            </a:r>
          </a:p>
        </p:txBody>
      </p: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238750" y="309562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784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D4F00-5C79-43C7-8395-8B07062F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计算机严格按照给出的先后顺序执行</a:t>
            </a:r>
          </a:p>
        </p:txBody>
      </p:sp>
    </p:spTree>
    <p:extLst>
      <p:ext uri="{BB962C8B-B14F-4D97-AF65-F5344CB8AC3E}">
        <p14:creationId xmlns:p14="http://schemas.microsoft.com/office/powerpoint/2010/main" val="18339561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A8CDA-7FF1-44EE-BFF2-0EB3FB62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程序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AD0D3-15D2-4140-8C87-0A7B1E93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11/15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1C8A8-BC88-4CE9-8E7C-6AF8078B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建议用时 1分钟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1FB8C-2B5A-4572-9B1C-3D0B161F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668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为了让计算机完成某项任务，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0FE2C-891E-483C-86FF-150F612E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525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用编程语言写成的一组指令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7AE15-1DB3-4C84-A018-F71E27CD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7187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叫作程序。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C5FE8-000B-47E5-B4EF-3A1FC9BC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0125"/>
            <a:ext cx="81915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A43B2-3A07-4FAE-9EE2-9BAEFDC3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24425"/>
            <a:ext cx="752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程序中的指令需要清楚，顺序需要合理</a:t>
            </a:r>
          </a:p>
        </p:txBody>
      </p:sp>
    </p:spTree>
    <p:extLst>
      <p:ext uri="{BB962C8B-B14F-4D97-AF65-F5344CB8AC3E}">
        <p14:creationId xmlns:p14="http://schemas.microsoft.com/office/powerpoint/2010/main" val="3873055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A397F-FAB5-4FA3-8836-1981271E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生活步骤和计算机程序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383AF-219A-4228-814C-3287BED3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12/15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45ECB-29A6-49B2-AC59-5508A2FB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建议用时 1分钟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94F21-9C67-417B-9579-E1796DBC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811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生活中的步骤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5BE9E-9AA3-483C-9966-026A6807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81125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rPr>
              <a:t>计算机程序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5D357-C6ED-43A6-A6D2-7A0AED73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1910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92F8F-777C-4FEA-ADA9-446EAB1C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用自然语言表达</a:t>
            </a:r>
          </a:p>
          <a:p xmlns:a="http://schemas.openxmlformats.org/drawingml/2006/main">
            <a:pPr algn="ctr">
              <a:defRPr sz="217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人可以补充和调整</a:t>
            </a:r>
          </a:p>
          <a:p xmlns:a="http://schemas.openxmlformats.org/drawingml/2006/main">
            <a:pPr algn="ctr">
              <a:defRPr sz="217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有时允许省略细节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DA87D-BDB3-454F-965B-5105B071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41910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7F1BE-12EB-4923-8EC4-71302A07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717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按照语言规则书写</a:t>
            </a:r>
          </a:p>
          <a:p xmlns:a="http://schemas.openxmlformats.org/drawingml/2006/main">
            <a:pPr algn="ctr">
              <a:defRPr sz="217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计算机逐条执行</a:t>
            </a:r>
          </a:p>
          <a:p xmlns:a="http://schemas.openxmlformats.org/drawingml/2006/main">
            <a:pPr algn="ctr">
              <a:defRPr sz="217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细节必须足够明确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67F51-C195-4368-938B-2A46EA79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rPr>
              <a:t>生活步骤帮助我们理解程序，但两者不完全相同</a:t>
            </a:r>
          </a:p>
        </p:txBody>
      </p:sp>
    </p:spTree>
    <p:extLst>
      <p:ext uri="{BB962C8B-B14F-4D97-AF65-F5344CB8AC3E}">
        <p14:creationId xmlns:p14="http://schemas.microsoft.com/office/powerpoint/2010/main" val="2057054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E568B-1B9A-4ED2-9E39-E8FEFE74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76D2D-87E9-4F3C-AB0F-8B6EF86C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13/15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073AC-B029-4270-B3F0-99EEF7C8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建议用时 1分10秒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D8233-474C-41A8-A1E2-1AE42251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85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解决问题时采用的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A8FFB-7540-4369-9704-B726E7C4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rPr>
              <a:t>有限、明确的步骤和方法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9BA9C-D8FD-4D0F-A35F-F80BC94E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03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可以叫作算法。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5386D-33D0-405D-A0F0-B60487B9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24375"/>
            <a:ext cx="24765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71212-A1E2-41E9-9E9F-8A7CA287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8630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明确的问题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757D1-B994-47E3-84E5-D448420F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24375"/>
            <a:ext cx="24765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AF77C-DA85-4F66-B1DE-FAE754B7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68630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有限的步骤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11EDB-ADBA-4EB7-9913-4E1F207E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476500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6EC1B-B154-4862-B418-962A4F75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8630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rPr>
              <a:t>得到结果</a:t>
            </a:r>
          </a:p>
        </p:txBody>
      </p: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57625" y="49530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784"/>
            </a:solidFill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334250" y="495300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784"/>
            </a:solidFill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776896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3230E-4BBF-45B3-9563-CF6EA6F5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算法和程序的关系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6FF73-8519-4168-ACD7-73DBACF8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14/15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37DF3-0504-4168-9DE9-1B1788FD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67784"/>
                </a:solidFill>
                <a:latin typeface="Hiragino Sans GB"/>
                <a:ea typeface="Hiragino Sans GB"/>
                <a:cs typeface="Hiragino Sans GB"/>
              </a:rPr>
              <a:t>建议用时 1分20秒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38501-FB79-4C81-95A6-8FFD39FA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4095750" cy="238125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D8EE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23972-4BB6-4406-98E3-71D0EA3B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2E6F95"/>
                </a:solidFill>
                <a:latin typeface="Hiragino Sans GB"/>
                <a:ea typeface="Hiragino Sans GB"/>
                <a:cs typeface="Hiragino Sans GB"/>
              </a:rPr>
              <a:t>算法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24A90-B36D-4137-BBEB-6F17B3CA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95625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解决问题的步骤和方法</a:t>
            </a:r>
          </a:p>
          <a:p xmlns:a="http://schemas.openxmlformats.org/drawingml/2006/main">
            <a:pPr algn="ctr">
              <a:defRPr sz="2100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可以先用语言或图表示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34307-96C3-4023-AB7E-65885198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00250"/>
            <a:ext cx="4095750" cy="2381250"/>
          </a:xfrm>
          <a:prstGeom xmlns:a="http://schemas.openxmlformats.org/drawingml/2006/main" prst="roundRect">
            <a:avLst>
              <a:gd name="adj" fmla="val 10400"/>
            </a:avLst>
          </a:prstGeom>
          <a:solidFill xmlns:a="http://schemas.openxmlformats.org/drawingml/2006/main">
            <a:srgbClr val="EAF5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C6F62-D9BD-432B-A90C-8AC3BB1D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56A36C"/>
                </a:solidFill>
                <a:latin typeface="Hiragino Sans GB"/>
                <a:ea typeface="Hiragino Sans GB"/>
                <a:cs typeface="Hiragino Sans GB"/>
              </a:rPr>
              <a:t>程序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179CA-44C5-4B02-B341-59494850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95625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用编程语言写成的指令</a:t>
            </a:r>
          </a:p>
          <a:p xmlns:a="http://schemas.openxmlformats.org/drawingml/2006/main">
            <a:pPr algn="ctr">
              <a:defRPr sz="2100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83044"/>
                </a:solidFill>
                <a:latin typeface="Hiragino Sans GB"/>
                <a:ea typeface="Hiragino Sans GB"/>
                <a:cs typeface="Hiragino Sans GB"/>
              </a:rPr>
              <a:t>可以交给计算机执行</a:t>
            </a:r>
          </a:p>
        </p:txBody>
      </p:sp>
      <p:cxnSp>
        <p:nvCxnSpPr>
          <p:cNvPr id="21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095875" y="3190875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67784"/>
            </a:solidFill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8FC90-5D74-4253-B223-71B20737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800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E85D5D"/>
                </a:solidFill>
                <a:latin typeface="Hiragino Sans GB"/>
                <a:ea typeface="Hiragino Sans GB"/>
                <a:cs typeface="Hiragino Sans GB"/>
              </a:rPr>
              <a:t>先设计算法，再把算法写成程序</a:t>
            </a:r>
          </a:p>
        </p:txBody>
      </p:sp>
    </p:spTree>
    <p:extLst>
      <p:ext uri="{BB962C8B-B14F-4D97-AF65-F5344CB8AC3E}">
        <p14:creationId xmlns:p14="http://schemas.microsoft.com/office/powerpoint/2010/main" val="9128231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77346-B961-4915-85CD-D24157EC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本节检测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AEC06-14AF-4FCA-AC95-2FC3BCF6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15/15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CF07CB-388A-4446-9934-CA529CF5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381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D8EEF7"/>
                </a:solidFill>
                <a:latin typeface="Hiragino Sans GB"/>
                <a:ea typeface="Hiragino Sans GB"/>
                <a:cs typeface="Hiragino Sans GB"/>
              </a:rPr>
              <a:t>建议用时 1分20秒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51FBA-C803-468C-9CFE-65C60D85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0632D-4C04-4C2C-9AD8-0F52BE39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381125"/>
            <a:ext cx="947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“往前走一点”为什么不够明确？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1934D-A867-4DEA-9E62-1872A251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1FEBA-6552-4123-AAA1-520340F4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571750"/>
            <a:ext cx="947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每条指令都正确，程序还可能出错吗？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52513-6C85-4A0E-92F4-E95EAE33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F6C85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54EE4-FD8B-4D16-AE25-CA5EE228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762375"/>
            <a:ext cx="947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算法和程序有什么不同？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F66D7-21D9-4AB5-9754-0AACB438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96202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C85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B14A42-4489-4592-92E1-1C26FE0B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102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7324D"/>
                </a:solidFill>
                <a:latin typeface="Hiragino Sans GB"/>
                <a:ea typeface="Hiragino Sans GB"/>
                <a:cs typeface="Hiragino Sans GB"/>
              </a:rPr>
              <a:t>本节关键词：明确　顺序　程序　算法</a:t>
            </a:r>
          </a:p>
        </p:txBody>
      </p:sp>
    </p:spTree>
    <p:extLst>
      <p:ext uri="{BB962C8B-B14F-4D97-AF65-F5344CB8AC3E}">
        <p14:creationId xmlns:p14="http://schemas.microsoft.com/office/powerpoint/2010/main" val="1812499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2026-09-14T00:21:13.9400000Z</dcterms:created>
  <dcterms:modified xsi:type="dcterms:W3CDTF">2026-09-14T00:21:13.9400000Z</dcterms:modified>
</coreProperties>
</file>