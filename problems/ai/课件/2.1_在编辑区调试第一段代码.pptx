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导入：问学生，上节课已经能运行 print()。今天程序出错时，我们怎样自己找到原因？建议 30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强调每个人都要实际点击运行，今天的课堂练习与课末个人选择题分开。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先让学生回答“控制台”，再显示答案。不要重新讲授 print 的完整语法。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这页作为后续每次运行的参照。教师可让学生先读一遍目标输出。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核心要求：先运行获取反馈。不要让学生立刻互相报出全部错误。预置代码应放入平台的编程题模板。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实际平台错误信息可能为英文。引导学生看行号、问题行附近的代码，不要求背诵 SyntaxError。此时只处理第 3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让学生自己在编辑区给第 3 行补上引号，并再次点击运行。问：这个修改是否已经解决了全部问题？由下一次运行回答。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让学生辨认全角中文括号与英文半角括号。只改第 4 行，改完继续运行。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问：程序已经能运行，能否直接结束？让学生逐行对照，发现第 2、3 行顺序颠倒。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学生自己调整代码行，并再次运行。展示正确输出以后，强调通过新一次运行验证修改。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请学生按顺序复述自己刚才实际经历的调试过程。强调每次只改一处，才能知道这次修改起了什么作用。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快速提问两位学生：报错时优先检查什么？能运行但内容不一样时优先检查什么？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这页只说明小测方向。平台小测应准备 5 道四选一题，不把参考答案同时展示给学生；投屏时可只显示前三个题干，答题结束后再讲答案。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用一句话收束：程序员通过运行结果找到证据，修改后再次运行。下一课将比较同一个问题的不同解决方案。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圆角矩形 8"/>
          <p:cNvSpPr>
            <a:spLocks noGrp="1"/>
          </p:cNvSpPr>
          <p:nvPr/>
        </p:nvSpPr>
        <p:spPr>
          <a:xfrm>
            <a:off x="685800" y="676275"/>
            <a:ext cx="76200" cy="5019675"/>
          </a:xfrm>
          <a:prstGeom prst="roundRect">
            <a:avLst>
              <a:gd name="adj" fmla="val 50000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90625" y="7620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25" b="1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第二单元 · 第一小节</a:t>
            </a:r>
            <a:endParaRPr sz="2025" b="1">
              <a:solidFill>
                <a:srgbClr val="D8EEF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90625" y="1733550"/>
            <a:ext cx="76200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487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87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在编辑区调试</a:t>
            </a:r>
            <a:endParaRPr sz="487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2000"/>
              </a:lnSpc>
              <a:buNone/>
              <a:defRPr sz="487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87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第一段代码</a:t>
            </a:r>
            <a:endParaRPr sz="487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09675" y="3857625"/>
            <a:ext cx="7524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F6C8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F6C8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运行代码  ·  看反馈  ·  修改后再运行</a:t>
            </a:r>
            <a:endParaRPr sz="2100" b="1">
              <a:solidFill>
                <a:srgbClr val="F6C85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743950" y="1771650"/>
            <a:ext cx="2114550" cy="2047875"/>
          </a:xfrm>
          <a:prstGeom prst="roundRect">
            <a:avLst>
              <a:gd name="adj" fmla="val 8372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153525" y="2190750"/>
            <a:ext cx="1333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540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540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&gt;_</a:t>
            </a:r>
            <a:endParaRPr sz="5400" b="1">
              <a:solidFill>
                <a:srgbClr val="2E6F9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91550" y="4267200"/>
            <a:ext cx="2619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print("你好")</a:t>
            </a:r>
            <a:endParaRPr sz="21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10650" y="61531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1/15   建议 30 秒</a:t>
            </a:r>
            <a:endParaRPr sz="1275" b="0">
              <a:solidFill>
                <a:srgbClr val="D8EEF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本节课完成三件事</a:t>
            </a:r>
            <a:endParaRPr sz="32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2/15</a:t>
            </a:r>
            <a:endParaRPr sz="1350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1 分钟</a:t>
            </a:r>
            <a:endParaRPr sz="1275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771525" y="1562100"/>
            <a:ext cx="695325" cy="695325"/>
          </a:xfrm>
          <a:prstGeom prst="roundRect">
            <a:avLst>
              <a:gd name="adj" fmla="val 16438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71525" y="1562100"/>
            <a:ext cx="6953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</a:t>
            </a:r>
            <a:endParaRPr sz="26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771650" y="1562100"/>
            <a:ext cx="16668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判断</a:t>
            </a:r>
            <a:endParaRPr sz="26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476625" y="1562100"/>
            <a:ext cx="7524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看控制台：报错，还是输出不一致？</a:t>
            </a:r>
            <a:endParaRPr sz="2100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71525" y="2990850"/>
            <a:ext cx="695325" cy="695325"/>
          </a:xfrm>
          <a:prstGeom prst="roundRect">
            <a:avLst>
              <a:gd name="adj" fmla="val 16438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71525" y="2990850"/>
            <a:ext cx="6953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</a:t>
            </a:r>
            <a:endParaRPr sz="26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771650" y="2990850"/>
            <a:ext cx="16668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修改</a:t>
            </a:r>
            <a:endParaRPr sz="26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76625" y="2990850"/>
            <a:ext cx="7524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根据反馈找到代码行，每次改一处</a:t>
            </a:r>
            <a:endParaRPr sz="2100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71525" y="4419600"/>
            <a:ext cx="695325" cy="695325"/>
          </a:xfrm>
          <a:prstGeom prst="roundRect">
            <a:avLst>
              <a:gd name="adj" fmla="val 16438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71525" y="4419600"/>
            <a:ext cx="6953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</a:t>
            </a:r>
            <a:endParaRPr sz="26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771650" y="4419600"/>
            <a:ext cx="16668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验证</a:t>
            </a:r>
            <a:endParaRPr sz="26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76625" y="4419600"/>
            <a:ext cx="7524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修改后再次运行，核对目标输出</a:t>
            </a:r>
            <a:endParaRPr sz="2100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上节课的代码，还记得吗？</a:t>
            </a:r>
            <a:endParaRPr sz="32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3/15</a:t>
            </a:r>
            <a:endParaRPr sz="1350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1 分钟</a:t>
            </a:r>
            <a:endParaRPr sz="1275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04875" y="1857375"/>
            <a:ext cx="5476875" cy="2381250"/>
          </a:xfrm>
          <a:prstGeom prst="roundRect">
            <a:avLst>
              <a:gd name="adj" fmla="val 6400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90625" y="2419350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31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print("你好，Python！")</a:t>
            </a:r>
            <a:endParaRPr sz="315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953250" y="2000250"/>
            <a:ext cx="4095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点击运行后，去哪里看结果？</a:t>
            </a:r>
            <a:endParaRPr sz="26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962775" y="3143250"/>
            <a:ext cx="3810000" cy="971550"/>
          </a:xfrm>
          <a:prstGeom prst="roundRect">
            <a:avLst>
              <a:gd name="adj" fmla="val 12745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096125" y="3238500"/>
            <a:ext cx="35718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9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9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控制台</a:t>
            </a:r>
            <a:endParaRPr sz="29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57250" y="4953000"/>
            <a:ext cx="10477500" cy="714375"/>
          </a:xfrm>
          <a:prstGeom prst="roundRect">
            <a:avLst>
              <a:gd name="adj" fmla="val 16000"/>
            </a:avLst>
          </a:prstGeom>
          <a:solidFill>
            <a:srgbClr val="17324D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95375" y="5029200"/>
            <a:ext cx="100012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今天用控制台的反馈来找问题</a:t>
            </a:r>
            <a:endParaRPr sz="20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先看任务目标</a:t>
            </a:r>
            <a:endParaRPr sz="32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4/15</a:t>
            </a:r>
            <a:endParaRPr sz="1350" b="0">
              <a:solidFill>
                <a:srgbClr val="D8EEF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1 分钟</a:t>
            </a:r>
            <a:endParaRPr sz="1275" b="0">
              <a:solidFill>
                <a:srgbClr val="D8EEF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504950"/>
            <a:ext cx="704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让控制台依次出现这四行：</a:t>
            </a:r>
            <a:endParaRPr sz="26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762125" y="2428875"/>
            <a:ext cx="8667750" cy="2886075"/>
          </a:xfrm>
          <a:prstGeom prst="roundRect">
            <a:avLst>
              <a:gd name="adj" fmla="val 5941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476500" y="2714625"/>
            <a:ext cx="7239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我的调试记录</a:t>
            </a:r>
            <a:endParaRPr sz="255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476500" y="3305175"/>
            <a:ext cx="7239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55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1. 运行代码</a:t>
            </a:r>
            <a:endParaRPr sz="2550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476500" y="3895725"/>
            <a:ext cx="7239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55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2. 查看运行结果</a:t>
            </a:r>
            <a:endParaRPr sz="2550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476500" y="4486275"/>
            <a:ext cx="7239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55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3. 修改后重新运行</a:t>
            </a:r>
            <a:endParaRPr sz="2550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43125" y="5762625"/>
            <a:ext cx="7905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325" b="1">
                <a:solidFill>
                  <a:srgbClr val="F6C8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F6C8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判断标准：文字、标点和顺序都一致</a:t>
            </a:r>
            <a:endParaRPr sz="2325" b="1">
              <a:solidFill>
                <a:srgbClr val="F6C85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先运行，再动手修改</a:t>
            </a:r>
            <a:endParaRPr sz="32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5/15</a:t>
            </a:r>
            <a:endParaRPr sz="1350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1 分钟</a:t>
            </a:r>
            <a:endParaRPr sz="1275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85825" y="1333500"/>
            <a:ext cx="9239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平台编辑区中有这段代码：</a:t>
            </a:r>
            <a:endParaRPr sz="23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38200" y="2095500"/>
            <a:ext cx="10515600" cy="3038475"/>
          </a:xfrm>
          <a:prstGeom prst="roundRect">
            <a:avLst>
              <a:gd name="adj" fmla="val 5016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76325" y="2286000"/>
            <a:ext cx="4476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</a:t>
            </a:r>
            <a:endParaRPr sz="1650" b="1">
              <a:solidFill>
                <a:srgbClr val="2E6F9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33550" y="2286000"/>
            <a:ext cx="93345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6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print("我的调试记录")</a:t>
            </a:r>
            <a:endParaRPr sz="26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76325" y="2962275"/>
            <a:ext cx="4476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</a:t>
            </a:r>
            <a:endParaRPr sz="1650" b="1">
              <a:solidFill>
                <a:srgbClr val="2E6F9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733550" y="2962275"/>
            <a:ext cx="93345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6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print("2. 查看运行结果")</a:t>
            </a:r>
            <a:endParaRPr sz="26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" y="3638550"/>
            <a:ext cx="4476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</a:t>
            </a:r>
            <a:endParaRPr sz="1650" b="1">
              <a:solidFill>
                <a:srgbClr val="2E6F9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33550" y="3638550"/>
            <a:ext cx="93345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6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print("1. 运行代码)</a:t>
            </a:r>
            <a:endParaRPr sz="26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76325" y="4314825"/>
            <a:ext cx="4476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</a:t>
            </a:r>
            <a:endParaRPr sz="1650" b="1">
              <a:solidFill>
                <a:srgbClr val="2E6F9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33550" y="4314825"/>
            <a:ext cx="93345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6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print（"3. 修改后重新运行"）</a:t>
            </a:r>
            <a:endParaRPr sz="26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57250" y="5514975"/>
            <a:ext cx="10477500" cy="714375"/>
          </a:xfrm>
          <a:prstGeom prst="roundRect">
            <a:avLst>
              <a:gd name="adj" fmla="val 16000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95375" y="5591175"/>
            <a:ext cx="100012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先点击“运行代码”，观察控制台</a:t>
            </a:r>
            <a:endParaRPr sz="20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第一次运行：程序停止了</a:t>
            </a:r>
            <a:endParaRPr sz="32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6/15</a:t>
            </a:r>
            <a:endParaRPr sz="1350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2 分钟</a:t>
            </a:r>
            <a:endParaRPr sz="1275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04875" y="1666875"/>
            <a:ext cx="10287000" cy="1619250"/>
          </a:xfrm>
          <a:prstGeom prst="roundRect">
            <a:avLst>
              <a:gd name="adj" fmla="val 9412"/>
            </a:avLst>
          </a:prstGeom>
          <a:solidFill>
            <a:srgbClr val="FAE9E4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333500" y="2000250"/>
            <a:ext cx="9334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775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75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控制台提示：第 3 行附近有语法错误</a:t>
            </a:r>
            <a:endParaRPr sz="2775" b="1">
              <a:solidFill>
                <a:srgbClr val="D56B4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1781175" y="3810000"/>
            <a:ext cx="8620125" cy="1095375"/>
          </a:xfrm>
          <a:prstGeom prst="roundRect">
            <a:avLst>
              <a:gd name="adj" fmla="val 13913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952625" y="3971925"/>
            <a:ext cx="8277225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019300" y="4000500"/>
            <a:ext cx="4476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</a:t>
            </a:r>
            <a:endParaRPr sz="1650" b="1">
              <a:solidFill>
                <a:srgbClr val="D56B4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676525" y="4000500"/>
            <a:ext cx="7439025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0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0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print("1. 运行代码)</a:t>
            </a:r>
            <a:endParaRPr sz="3225" b="0">
              <a:solidFill>
                <a:srgbClr val="D56B4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5334000"/>
            <a:ext cx="90011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4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先检查：左右的英文引号成对吗？</a:t>
            </a:r>
            <a:endParaRPr sz="24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只修改第 3 行</a:t>
            </a:r>
            <a:endParaRPr sz="32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7/15</a:t>
            </a:r>
            <a:endParaRPr sz="1350" b="0">
              <a:solidFill>
                <a:srgbClr val="D8EEF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2 分钟</a:t>
            </a:r>
            <a:endParaRPr sz="1275" b="0">
              <a:solidFill>
                <a:srgbClr val="D8EEF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1285875" y="1924050"/>
            <a:ext cx="9620250" cy="1285875"/>
          </a:xfrm>
          <a:prstGeom prst="roundRect">
            <a:avLst>
              <a:gd name="adj" fmla="val 11852"/>
            </a:avLst>
          </a:prstGeom>
          <a:solidFill>
            <a:srgbClr val="FAE9E4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724025" y="2124075"/>
            <a:ext cx="8715375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3375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75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print("1. 运行代码)</a:t>
            </a:r>
            <a:endParaRPr sz="3375" b="1">
              <a:solidFill>
                <a:srgbClr val="D56B4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905000" y="3495675"/>
            <a:ext cx="83820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F6C8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F6C8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补上一枚英文双引号</a:t>
            </a:r>
            <a:endParaRPr sz="2550" b="1">
              <a:solidFill>
                <a:srgbClr val="F6C85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285875" y="4333875"/>
            <a:ext cx="9620250" cy="1285875"/>
          </a:xfrm>
          <a:prstGeom prst="roundRect">
            <a:avLst>
              <a:gd name="adj" fmla="val 11852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724025" y="4533900"/>
            <a:ext cx="8715375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33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print("1. 运行代码")</a:t>
            </a:r>
            <a:endParaRPr sz="337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第二次运行：发现新问题</a:t>
            </a:r>
            <a:endParaRPr sz="32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8/15</a:t>
            </a:r>
            <a:endParaRPr sz="1350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2 分钟</a:t>
            </a:r>
            <a:endParaRPr sz="1275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04875" y="1714500"/>
            <a:ext cx="10287000" cy="1190625"/>
          </a:xfrm>
          <a:prstGeom prst="roundRect">
            <a:avLst>
              <a:gd name="adj" fmla="val 12800"/>
            </a:avLst>
          </a:prstGeom>
          <a:solidFill>
            <a:srgbClr val="FAE9E4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304925" y="1905000"/>
            <a:ext cx="9525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控制台现在指向第 4 行</a:t>
            </a:r>
            <a:endParaRPr sz="2700" b="1">
              <a:solidFill>
                <a:srgbClr val="D56B4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1438275" y="3429000"/>
            <a:ext cx="9315450" cy="1133475"/>
          </a:xfrm>
          <a:prstGeom prst="roundRect">
            <a:avLst>
              <a:gd name="adj" fmla="val 13445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609725" y="3590925"/>
            <a:ext cx="89725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676400" y="3619500"/>
            <a:ext cx="4476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</a:t>
            </a:r>
            <a:endParaRPr sz="1650" b="1">
              <a:solidFill>
                <a:srgbClr val="D56B4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333625" y="3619500"/>
            <a:ext cx="8134350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850" b="0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850" b="0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print（"3. 修改后重新运行"）</a:t>
            </a:r>
            <a:endParaRPr sz="2850" b="0">
              <a:solidFill>
                <a:srgbClr val="D56B4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57250" y="5210175"/>
            <a:ext cx="10477500" cy="714375"/>
          </a:xfrm>
          <a:prstGeom prst="roundRect">
            <a:avLst>
              <a:gd name="adj" fmla="val 16000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95375" y="5286375"/>
            <a:ext cx="100012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 4 行用了中文括号，改为英文 ( )</a:t>
            </a:r>
            <a:endParaRPr sz="20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第三次运行：没有报错，还要检查结果</a:t>
            </a:r>
            <a:endParaRPr sz="32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9/15</a:t>
            </a:r>
            <a:endParaRPr sz="1350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3 分钟</a:t>
            </a:r>
            <a:endParaRPr sz="1275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704850" y="1743075"/>
            <a:ext cx="5057775" cy="3248025"/>
          </a:xfrm>
          <a:prstGeom prst="roundRect">
            <a:avLst>
              <a:gd name="adj" fmla="val 4692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429375" y="1743075"/>
            <a:ext cx="5057775" cy="3248025"/>
          </a:xfrm>
          <a:prstGeom prst="roundRect">
            <a:avLst>
              <a:gd name="adj" fmla="val 4692"/>
            </a:avLst>
          </a:prstGeom>
          <a:solidFill>
            <a:srgbClr val="FFFFFF"/>
          </a:solidFill>
          <a:ln w="19050">
            <a:solidFill>
              <a:srgbClr val="2E6F9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52500" y="1933575"/>
            <a:ext cx="4572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目标输出</a:t>
            </a:r>
            <a:endParaRPr sz="2550" b="1">
              <a:solidFill>
                <a:srgbClr val="2E6F9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77025" y="1933575"/>
            <a:ext cx="4572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实际输出</a:t>
            </a:r>
            <a:endParaRPr sz="2550" b="1">
              <a:solidFill>
                <a:srgbClr val="2E6F9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667000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我的调试记录</a:t>
            </a:r>
            <a:endParaRPr sz="20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3190875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1. 运行代码</a:t>
            </a:r>
            <a:endParaRPr sz="20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3714750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2. 查看运行结果</a:t>
            </a:r>
            <a:endParaRPr sz="20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4238625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3. 修改后重新运行</a:t>
            </a:r>
            <a:endParaRPr sz="20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762750" y="2667000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我的调试记录</a:t>
            </a:r>
            <a:endParaRPr sz="20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62750" y="3190875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25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2. 查看运行结果</a:t>
            </a:r>
            <a:endParaRPr sz="2025" b="1">
              <a:solidFill>
                <a:srgbClr val="D56B4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62750" y="3714750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25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1. 运行代码</a:t>
            </a:r>
            <a:endParaRPr sz="2025" b="1">
              <a:solidFill>
                <a:srgbClr val="D56B4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762750" y="4238625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3. 修改后重新运行</a:t>
            </a:r>
            <a:endParaRPr sz="20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57250" y="5438775"/>
            <a:ext cx="10477500" cy="714375"/>
          </a:xfrm>
          <a:prstGeom prst="roundRect">
            <a:avLst>
              <a:gd name="adj" fmla="val 16000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95375" y="5514975"/>
            <a:ext cx="100012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 2、3 行顺序反了</a:t>
            </a:r>
            <a:endParaRPr sz="20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调整顺序，再运行一次</a:t>
            </a:r>
            <a:endParaRPr sz="32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10/15</a:t>
            </a:r>
            <a:endParaRPr sz="1350" b="0">
              <a:solidFill>
                <a:srgbClr val="D8EEF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3 分钟</a:t>
            </a:r>
            <a:endParaRPr sz="1275" b="0">
              <a:solidFill>
                <a:srgbClr val="D8EEF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" y="1485900"/>
            <a:ext cx="99060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775" b="1">
                <a:solidFill>
                  <a:srgbClr val="F6C8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75" b="1">
                <a:solidFill>
                  <a:srgbClr val="F6C8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把两行 print() 调换位置</a:t>
            </a:r>
            <a:endParaRPr sz="2775" b="1">
              <a:solidFill>
                <a:srgbClr val="F6C85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524000" y="2543175"/>
            <a:ext cx="9144000" cy="2276475"/>
          </a:xfrm>
          <a:prstGeom prst="roundRect">
            <a:avLst>
              <a:gd name="adj" fmla="val 7113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971675" y="2800350"/>
            <a:ext cx="8343900" cy="1781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print("我的调试记录")</a:t>
            </a:r>
            <a:endParaRPr sz="27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2000"/>
              </a:lnSpc>
              <a:buNone/>
              <a:defRPr sz="27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print("1. 运行代码")</a:t>
            </a:r>
            <a:endParaRPr sz="27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2000"/>
              </a:lnSpc>
              <a:buNone/>
              <a:defRPr sz="27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print("2. 查看运行结果")</a:t>
            </a:r>
            <a:endParaRPr sz="27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2000"/>
              </a:lnSpc>
              <a:buNone/>
              <a:defRPr sz="27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print("3. 修改后重新运行")</a:t>
            </a:r>
            <a:endParaRPr sz="27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81150" y="5267325"/>
            <a:ext cx="9048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47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 4 次运行：输出与目标完全一致</a:t>
            </a:r>
            <a:endParaRPr sz="247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一次完整的调试</a:t>
            </a:r>
            <a:endParaRPr sz="32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11/15</a:t>
            </a:r>
            <a:endParaRPr sz="1350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2 分钟</a:t>
            </a:r>
            <a:endParaRPr sz="1275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752475" y="2324100"/>
            <a:ext cx="1971675" cy="1628775"/>
          </a:xfrm>
          <a:prstGeom prst="roundRect">
            <a:avLst>
              <a:gd name="adj" fmla="val 8187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52475" y="2466975"/>
            <a:ext cx="19716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42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2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</a:t>
            </a:r>
            <a:endParaRPr sz="427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47725" y="3314700"/>
            <a:ext cx="17811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运行代码</a:t>
            </a:r>
            <a:endParaRPr sz="21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048000" y="2324100"/>
            <a:ext cx="1971675" cy="1628775"/>
          </a:xfrm>
          <a:prstGeom prst="roundRect">
            <a:avLst>
              <a:gd name="adj" fmla="val 8187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2466975"/>
            <a:ext cx="19716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42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2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</a:t>
            </a:r>
            <a:endParaRPr sz="427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143250" y="3314700"/>
            <a:ext cx="17811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阅读反馈</a:t>
            </a:r>
            <a:endParaRPr sz="21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343525" y="2324100"/>
            <a:ext cx="1971675" cy="1628775"/>
          </a:xfrm>
          <a:prstGeom prst="roundRect">
            <a:avLst>
              <a:gd name="adj" fmla="val 8187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343525" y="2466975"/>
            <a:ext cx="19716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42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2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</a:t>
            </a:r>
            <a:endParaRPr sz="427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438775" y="3314700"/>
            <a:ext cx="17811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定位问题</a:t>
            </a:r>
            <a:endParaRPr sz="21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639050" y="2324100"/>
            <a:ext cx="1971675" cy="1628775"/>
          </a:xfrm>
          <a:prstGeom prst="roundRect">
            <a:avLst>
              <a:gd name="adj" fmla="val 8187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639050" y="2466975"/>
            <a:ext cx="19716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42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2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</a:t>
            </a:r>
            <a:endParaRPr sz="427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734300" y="3314700"/>
            <a:ext cx="17811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修改一处</a:t>
            </a:r>
            <a:endParaRPr sz="21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934575" y="2324100"/>
            <a:ext cx="1971675" cy="1628775"/>
          </a:xfrm>
          <a:prstGeom prst="roundRect">
            <a:avLst>
              <a:gd name="adj" fmla="val 8187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934575" y="2466975"/>
            <a:ext cx="19716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42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27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5</a:t>
            </a:r>
            <a:endParaRPr sz="427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29825" y="3314700"/>
            <a:ext cx="17811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再次运行</a:t>
            </a:r>
            <a:endParaRPr sz="21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390650" y="5105400"/>
            <a:ext cx="9429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2E6F9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如果结果仍不一致，继续下一轮</a:t>
            </a:r>
            <a:endParaRPr sz="2550" b="1">
              <a:solidFill>
                <a:srgbClr val="2E6F9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两种常见反馈</a:t>
            </a:r>
            <a:endParaRPr sz="32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12/15</a:t>
            </a:r>
            <a:endParaRPr sz="1350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3 分钟</a:t>
            </a:r>
            <a:endParaRPr sz="1275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00100" y="1857375"/>
            <a:ext cx="5048250" cy="2895600"/>
          </a:xfrm>
          <a:prstGeom prst="roundRect">
            <a:avLst>
              <a:gd name="adj" fmla="val 5263"/>
            </a:avLst>
          </a:prstGeom>
          <a:solidFill>
            <a:srgbClr val="FAE9E4"/>
          </a:solidFill>
          <a:ln w="0">
            <a:noFill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353175" y="1857375"/>
            <a:ext cx="5048250" cy="2895600"/>
          </a:xfrm>
          <a:prstGeom prst="roundRect">
            <a:avLst>
              <a:gd name="adj" fmla="val 5263"/>
            </a:avLst>
          </a:prstGeom>
          <a:solidFill>
            <a:srgbClr val="E2F1E8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95375" y="2114550"/>
            <a:ext cx="4476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925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925" b="1">
                <a:solidFill>
                  <a:srgbClr val="D56B4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代码不能运行</a:t>
            </a:r>
            <a:endParaRPr sz="2925" b="1">
              <a:solidFill>
                <a:srgbClr val="D56B4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95400" y="3086100"/>
            <a:ext cx="40005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3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查看提示位置</a:t>
            </a:r>
            <a:endParaRPr sz="23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lnSpc>
                <a:spcPct val="112000"/>
              </a:lnSpc>
              <a:buNone/>
              <a:defRPr sz="23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检查拼写、括号和引号</a:t>
            </a:r>
            <a:endParaRPr sz="23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38925" y="2114550"/>
            <a:ext cx="4476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925" b="1">
                <a:solidFill>
                  <a:srgbClr val="3988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925" b="1">
                <a:solidFill>
                  <a:srgbClr val="3988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能运行，结果不对</a:t>
            </a:r>
            <a:endParaRPr sz="2925" b="1">
              <a:solidFill>
                <a:srgbClr val="3988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38950" y="3086100"/>
            <a:ext cx="40005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3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逐行比较目标与实际输出</a:t>
            </a:r>
            <a:endParaRPr sz="23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lnSpc>
                <a:spcPct val="112000"/>
              </a:lnSpc>
              <a:buNone/>
              <a:defRPr sz="23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0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检查文字、标点和顺序</a:t>
            </a:r>
            <a:endParaRPr sz="2325" b="0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57250" y="5238750"/>
            <a:ext cx="10477500" cy="714375"/>
          </a:xfrm>
          <a:prstGeom prst="roundRect">
            <a:avLst>
              <a:gd name="adj" fmla="val 16000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95375" y="5314950"/>
            <a:ext cx="100012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两种情况都要修改后再次运行</a:t>
            </a:r>
            <a:endParaRPr sz="20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个人小测：独立完成</a:t>
            </a:r>
            <a:endParaRPr sz="3225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14/15</a:t>
            </a:r>
            <a:endParaRPr sz="1350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6B7C8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8 分钟</a:t>
            </a:r>
            <a:endParaRPr sz="1275" b="0">
              <a:solidFill>
                <a:srgbClr val="6B7C8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00100" y="1466850"/>
            <a:ext cx="666750" cy="666750"/>
          </a:xfrm>
          <a:prstGeom prst="roundRect">
            <a:avLst>
              <a:gd name="adj" fmla="val 15714"/>
            </a:avLst>
          </a:prstGeom>
          <a:solidFill>
            <a:srgbClr val="F6C85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146685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</a:t>
            </a:r>
            <a:endParaRPr sz="255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743075" y="1466850"/>
            <a:ext cx="952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4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代码报错时，先从哪里寻找线索？</a:t>
            </a:r>
            <a:endParaRPr sz="24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00100" y="2933700"/>
            <a:ext cx="666750" cy="666750"/>
          </a:xfrm>
          <a:prstGeom prst="roundRect">
            <a:avLst>
              <a:gd name="adj" fmla="val 15714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29337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</a:t>
            </a:r>
            <a:endParaRPr sz="255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743075" y="2933700"/>
            <a:ext cx="952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4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代码能运行但两行输出颠倒，检查什么？</a:t>
            </a:r>
            <a:endParaRPr sz="24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00100" y="4400550"/>
            <a:ext cx="666750" cy="666750"/>
          </a:xfrm>
          <a:prstGeom prst="roundRect">
            <a:avLst>
              <a:gd name="adj" fmla="val 15714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440055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</a:t>
            </a:r>
            <a:endParaRPr sz="255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743075" y="4400550"/>
            <a:ext cx="952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4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修改代码后，怎样确认真的修好？</a:t>
            </a:r>
            <a:endParaRPr sz="240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57250" y="5962650"/>
            <a:ext cx="10477500" cy="714375"/>
          </a:xfrm>
          <a:prstGeom prst="roundRect">
            <a:avLst>
              <a:gd name="adj" fmla="val 16000"/>
            </a:avLst>
          </a:prstGeom>
          <a:solidFill>
            <a:srgbClr val="17324D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95375" y="6038850"/>
            <a:ext cx="100012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正式小测在平台中作答，每人独立提交</a:t>
            </a:r>
            <a:endParaRPr sz="20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85800" y="438150"/>
            <a:ext cx="990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今天学会了怎样调试</a:t>
            </a:r>
            <a:endParaRPr sz="32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23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350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15/15</a:t>
            </a:r>
            <a:endParaRPr sz="1350" b="0">
              <a:solidFill>
                <a:srgbClr val="D8EEF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810750" y="590550"/>
            <a:ext cx="1743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D8EEF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 1 分钟</a:t>
            </a:r>
            <a:endParaRPr sz="1275" b="0">
              <a:solidFill>
                <a:srgbClr val="D8EEF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19225" y="1790700"/>
            <a:ext cx="93345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3825" b="1">
                <a:solidFill>
                  <a:srgbClr val="F6C8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825" b="1">
                <a:solidFill>
                  <a:srgbClr val="F6C8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看目标</a:t>
            </a:r>
            <a:endParaRPr sz="3825" b="1">
              <a:solidFill>
                <a:srgbClr val="F6C85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2743200"/>
            <a:ext cx="100965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运行代码，听控制台怎么说</a:t>
            </a:r>
            <a:endParaRPr sz="31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3781425"/>
            <a:ext cx="10048875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修改一处，再运行一次</a:t>
            </a:r>
            <a:endParaRPr sz="31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114550" y="5314950"/>
            <a:ext cx="7981950" cy="714375"/>
          </a:xfrm>
          <a:prstGeom prst="roundRect">
            <a:avLst>
              <a:gd name="adj" fmla="val 17333"/>
            </a:avLst>
          </a:prstGeom>
          <a:solidFill>
            <a:srgbClr val="D8EEF7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228850" y="5410200"/>
            <a:ext cx="7772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25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550" b="1">
                <a:solidFill>
                  <a:srgbClr val="17324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直到实际输出与目标一致</a:t>
            </a:r>
            <a:endParaRPr sz="2550" b="1">
              <a:solidFill>
                <a:srgbClr val="17324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1135</Words>
  <Application>WPS 表格</Application>
  <PresentationFormat>Converted Presentation</PresentationFormat>
  <Paragraphs>258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Hiragino Sans GB</vt:lpstr>
      <vt:lpstr>微软雅黑</vt:lpstr>
      <vt:lpstr>方正雅意黑 GB18030L2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Lazyandcool</cp:lastModifiedBy>
  <cp:revision>1</cp:revision>
  <dcterms:created xsi:type="dcterms:W3CDTF">2026-10-09T08:33:44Z</dcterms:created>
  <dcterms:modified xsi:type="dcterms:W3CDTF">2026-10-09T08:33:44Z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22CFE07A9BED1FCDE8A6C86A19803EBD_42</vt:lpwstr>
  </property>
  <property fmtid="{D5CDD505-2E9C-101B-9397-08002B2CF9AE}" pid="3" name="KSOProductBuildVer">
    <vt:lpwstr>2052-12.1.28496.28496</vt:lpwstr>
  </property>
</Properties>
</file>