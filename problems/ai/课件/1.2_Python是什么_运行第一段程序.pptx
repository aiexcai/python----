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8b11736574d1e" /><Relationship Type="http://schemas.openxmlformats.org/officeDocument/2006/relationships/extended-properties" Target="/docProps/app.xml" Id="Ra1ff78b3fa2844b2" /><Relationship Type="http://schemas.openxmlformats.org/officeDocument/2006/relationships/officeDocument" Target="/ppt/presentation.xml" Id="R550a4f89188a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e4e11604a47c0"/>
  </p:sldMasterIdLst>
  <p:notesMasterIdLst>
    <p:notesMasterId xmlns:r="http://schemas.openxmlformats.org/officeDocument/2006/relationships" r:id="R80bb351fe4474cdf"/>
  </p:notesMasterIdLst>
  <p:sldIdLst>
    <p:sldId xmlns:r="http://schemas.openxmlformats.org/officeDocument/2006/relationships" id="256" r:id="Rc491d0c7b9f04030"/>
    <p:sldId xmlns:r="http://schemas.openxmlformats.org/officeDocument/2006/relationships" id="257" r:id="R0c7e99eafd00457f"/>
    <p:sldId xmlns:r="http://schemas.openxmlformats.org/officeDocument/2006/relationships" id="258" r:id="R929f6a00eecc4cb8"/>
    <p:sldId xmlns:r="http://schemas.openxmlformats.org/officeDocument/2006/relationships" id="259" r:id="Rad17d9e9c4e84326"/>
    <p:sldId xmlns:r="http://schemas.openxmlformats.org/officeDocument/2006/relationships" id="260" r:id="R0c6e52b03b664390"/>
    <p:sldId xmlns:r="http://schemas.openxmlformats.org/officeDocument/2006/relationships" id="261" r:id="R7fffdc7b9a9d4dda"/>
    <p:sldId xmlns:r="http://schemas.openxmlformats.org/officeDocument/2006/relationships" id="262" r:id="R7b6e96c054614326"/>
    <p:sldId xmlns:r="http://schemas.openxmlformats.org/officeDocument/2006/relationships" id="263" r:id="R543ee1d73690491a"/>
    <p:sldId xmlns:r="http://schemas.openxmlformats.org/officeDocument/2006/relationships" id="264" r:id="R434f8b2d2c914088"/>
    <p:sldId xmlns:r="http://schemas.openxmlformats.org/officeDocument/2006/relationships" id="265" r:id="Rc8ba04dde5154a35"/>
    <p:sldId xmlns:r="http://schemas.openxmlformats.org/officeDocument/2006/relationships" id="266" r:id="Ra8ee0440dcbf4921"/>
    <p:sldId xmlns:r="http://schemas.openxmlformats.org/officeDocument/2006/relationships" id="267" r:id="Rd4683761690a4df5"/>
    <p:sldId xmlns:r="http://schemas.openxmlformats.org/officeDocument/2006/relationships" id="268" r:id="R8c8b484a9bf1419f"/>
    <p:sldId xmlns:r="http://schemas.openxmlformats.org/officeDocument/2006/relationships" id="269" r:id="R39eb8c85e7d34276"/>
    <p:sldId xmlns:r="http://schemas.openxmlformats.org/officeDocument/2006/relationships" id="270" r:id="Rb0294b11e4b2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e0bb7eac44bd5" /><Relationship Type="http://schemas.openxmlformats.org/officeDocument/2006/relationships/slideMaster" Target="/ppt/slideMasters/slideMaster1.xml" Id="R1bae4e11604a47c0" /><Relationship Type="http://schemas.openxmlformats.org/officeDocument/2006/relationships/notesMaster" Target="/ppt/notesMasters/notesMaster1.xml" Id="R80bb351fe4474cdf" /><Relationship Type="http://schemas.openxmlformats.org/officeDocument/2006/relationships/presProps" Target="/ppt/presProps.xml" Id="R199e58717cde479e" /><Relationship Type="http://schemas.openxmlformats.org/officeDocument/2006/relationships/tableStyles" Target="/ppt/tableStyles.xml" Id="Rfd747c2c666b466f" /><Relationship Type="http://schemas.openxmlformats.org/officeDocument/2006/relationships/slide" Target="/ppt/slides/slide1.xml" Id="Rc491d0c7b9f04030" /><Relationship Type="http://schemas.openxmlformats.org/officeDocument/2006/relationships/slide" Target="/ppt/slides/slide2.xml" Id="R0c7e99eafd00457f" /><Relationship Type="http://schemas.openxmlformats.org/officeDocument/2006/relationships/slide" Target="/ppt/slides/slide3.xml" Id="R929f6a00eecc4cb8" /><Relationship Type="http://schemas.openxmlformats.org/officeDocument/2006/relationships/slide" Target="/ppt/slides/slide4.xml" Id="Rad17d9e9c4e84326" /><Relationship Type="http://schemas.openxmlformats.org/officeDocument/2006/relationships/slide" Target="/ppt/slides/slide5.xml" Id="R0c6e52b03b664390" /><Relationship Type="http://schemas.openxmlformats.org/officeDocument/2006/relationships/slide" Target="/ppt/slides/slide6.xml" Id="R7fffdc7b9a9d4dda" /><Relationship Type="http://schemas.openxmlformats.org/officeDocument/2006/relationships/slide" Target="/ppt/slides/slide7.xml" Id="R7b6e96c054614326" /><Relationship Type="http://schemas.openxmlformats.org/officeDocument/2006/relationships/slide" Target="/ppt/slides/slide8.xml" Id="R543ee1d73690491a" /><Relationship Type="http://schemas.openxmlformats.org/officeDocument/2006/relationships/slide" Target="/ppt/slides/slide9.xml" Id="R434f8b2d2c914088" /><Relationship Type="http://schemas.openxmlformats.org/officeDocument/2006/relationships/slide" Target="/ppt/slides/slide10.xml" Id="Rc8ba04dde5154a35" /><Relationship Type="http://schemas.openxmlformats.org/officeDocument/2006/relationships/slide" Target="/ppt/slides/slide11.xml" Id="Ra8ee0440dcbf4921" /><Relationship Type="http://schemas.openxmlformats.org/officeDocument/2006/relationships/slide" Target="/ppt/slides/slide12.xml" Id="Rd4683761690a4df5" /><Relationship Type="http://schemas.openxmlformats.org/officeDocument/2006/relationships/slide" Target="/ppt/slides/slide13.xml" Id="R8c8b484a9bf1419f" /><Relationship Type="http://schemas.openxmlformats.org/officeDocument/2006/relationships/slide" Target="/ppt/slides/slide14.xml" Id="R39eb8c85e7d34276" /><Relationship Type="http://schemas.openxmlformats.org/officeDocument/2006/relationships/slide" Target="/ppt/slides/slide15.xml" Id="Rb0294b11e4b2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f6b23ec2c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ef35ae6f654e5a" /><Relationship Type="http://schemas.openxmlformats.org/officeDocument/2006/relationships/notesMaster" Target="/ppt/notesMasters/notesMaster1.xml" Id="Rb2cfb446dede4e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9983a580c54cfc" /><Relationship Type="http://schemas.openxmlformats.org/officeDocument/2006/relationships/notesMaster" Target="/ppt/notesMasters/notesMaster1.xml" Id="Rbbd1ec06164e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8e9fe36914836" /><Relationship Type="http://schemas.openxmlformats.org/officeDocument/2006/relationships/notesMaster" Target="/ppt/notesMasters/notesMaster1.xml" Id="R768dc7ff15de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e33057ca634d14" /><Relationship Type="http://schemas.openxmlformats.org/officeDocument/2006/relationships/notesMaster" Target="/ppt/notesMasters/notesMaster1.xml" Id="R37bd536f44b245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c97fce67494843" /><Relationship Type="http://schemas.openxmlformats.org/officeDocument/2006/relationships/notesMaster" Target="/ppt/notesMasters/notesMaster1.xml" Id="R74ad9fe49b4a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582de056bc47ab" /><Relationship Type="http://schemas.openxmlformats.org/officeDocument/2006/relationships/notesMaster" Target="/ppt/notesMasters/notesMaster1.xml" Id="Rd58738570915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9ee8655924170" /><Relationship Type="http://schemas.openxmlformats.org/officeDocument/2006/relationships/notesMaster" Target="/ppt/notesMasters/notesMaster1.xml" Id="Rc80cf042bc884e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8ca1640fb94169" /><Relationship Type="http://schemas.openxmlformats.org/officeDocument/2006/relationships/notesMaster" Target="/ppt/notesMasters/notesMaster1.xml" Id="Re16cb7cc215a49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09b05276545ed" /><Relationship Type="http://schemas.openxmlformats.org/officeDocument/2006/relationships/notesMaster" Target="/ppt/notesMasters/notesMaster1.xml" Id="R6c36ef7e2fc149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237a5ac8184f2d" /><Relationship Type="http://schemas.openxmlformats.org/officeDocument/2006/relationships/notesMaster" Target="/ppt/notesMasters/notesMaster1.xml" Id="R42f83b297e2240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5814a4d8144dc0" /><Relationship Type="http://schemas.openxmlformats.org/officeDocument/2006/relationships/notesMaster" Target="/ppt/notesMasters/notesMaster1.xml" Id="R1da130b1d51348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49ad3e10d74ecc" /><Relationship Type="http://schemas.openxmlformats.org/officeDocument/2006/relationships/notesMaster" Target="/ppt/notesMasters/notesMaster1.xml" Id="Rc40f6abb5bc5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7a86018d9e4bb2" /><Relationship Type="http://schemas.openxmlformats.org/officeDocument/2006/relationships/notesMaster" Target="/ppt/notesMasters/notesMaster1.xml" Id="R29bbcacac2a443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67891beb8f473b" /><Relationship Type="http://schemas.openxmlformats.org/officeDocument/2006/relationships/notesMaster" Target="/ppt/notesMasters/notesMaster1.xml" Id="R4b02babcade349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0c05dba993434c" /><Relationship Type="http://schemas.openxmlformats.org/officeDocument/2006/relationships/notesMaster" Target="/ppt/notesMasters/notesMaster1.xml" Id="R3d264f2cf6ad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开场提问：上节课我们知道计算机需要明确的指令，那我们用什么语言把指令告诉它？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读出四个动词，让学生知道本节课最后要真正运行和修改代码。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先让学生猜。引出：算法说明做什么，编程语言帮助我们把它写给计算机。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用三层关系说明编程语言的作用。可以提问：中间这一层缺了，会怎样？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给出简单定义。重点不在背诵，而是理解编程语言有固定规则。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Python 是本课程选用的编程语言。本页不展开历史和应用领域，将时间留给第一次运行。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教师读代码：print 将括号中的文字输出。暂时不讲函数的完整概念。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指着代码从左到右讲四部分。强调英文括号和英文引号，这是初学者最容易出错的地方。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让学生用手指实际屏幕的三个位置。界面名称可以因平台不同而略有差别，作用不变。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教师现场示范一次。运行前先让学生预测，运行后再比较。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给学生 15 秒预测。结论只说到从上到下执行，与上节课的顺序呼应。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逐行让学生找错。强调报错表示代码需要修改，不代表学习失败。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根据学校设备实际情况示范保存路径。如平台自动保存，只需解释 .py 文件名。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此页用于发布学生后续实操任务。PPT 讲解时只说明要求，学生实际操作时间可在 PPT 讲解后另行安排。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让学生用一句话回答每个问题。结束时说明：接下来会进行打字练习和代码操作。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cc2afe05a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4a3b2dd3a24161" /><Relationship Type="http://schemas.openxmlformats.org/officeDocument/2006/relationships/slideLayout" Target="/ppt/slideLayouts/slideLayout1.xml" Id="R4505f9579abc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05f9579abc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1e9b4b3134ba0" /><Relationship Type="http://schemas.openxmlformats.org/officeDocument/2006/relationships/notesSlide" Target="/ppt/notesSlides/notesSlide1.xml" Id="R98173023e3e044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f9be4fb5744a4" /><Relationship Type="http://schemas.openxmlformats.org/officeDocument/2006/relationships/notesSlide" Target="/ppt/notesSlides/notesSlide2.xml" Id="R9033ce9ff08b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f30c83f74a03" /><Relationship Type="http://schemas.openxmlformats.org/officeDocument/2006/relationships/notesSlide" Target="/ppt/notesSlides/notesSlide3.xml" Id="R04ee3468e4ba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0657704254fe6" /><Relationship Type="http://schemas.openxmlformats.org/officeDocument/2006/relationships/notesSlide" Target="/ppt/notesSlides/notesSlide4.xml" Id="R53da083b2ca349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1600259ed4703" /><Relationship Type="http://schemas.openxmlformats.org/officeDocument/2006/relationships/notesSlide" Target="/ppt/notesSlides/notesSlide5.xml" Id="Rb12961f915f2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326d0e4374d4d" /><Relationship Type="http://schemas.openxmlformats.org/officeDocument/2006/relationships/notesSlide" Target="/ppt/notesSlides/notesSlide6.xml" Id="R96cff0717a9b4b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f2a9a18474841" /><Relationship Type="http://schemas.openxmlformats.org/officeDocument/2006/relationships/notesSlide" Target="/ppt/notesSlides/notesSlide7.xml" Id="R9a1b59b38e3047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d9728d53147cb" /><Relationship Type="http://schemas.openxmlformats.org/officeDocument/2006/relationships/notesSlide" Target="/ppt/notesSlides/notesSlide8.xml" Id="R209f21b2fafd46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f86632f014b88" /><Relationship Type="http://schemas.openxmlformats.org/officeDocument/2006/relationships/notesSlide" Target="/ppt/notesSlides/notesSlide9.xml" Id="Ree76716f9b5e42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30655a274e09" /><Relationship Type="http://schemas.openxmlformats.org/officeDocument/2006/relationships/notesSlide" Target="/ppt/notesSlides/notesSlide10.xml" Id="Rfe1214a427ea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2a0a247441a6" /><Relationship Type="http://schemas.openxmlformats.org/officeDocument/2006/relationships/notesSlide" Target="/ppt/notesSlides/notesSlide11.xml" Id="Rffb18c81cec54c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3b957384840e8" /><Relationship Type="http://schemas.openxmlformats.org/officeDocument/2006/relationships/notesSlide" Target="/ppt/notesSlides/notesSlide12.xml" Id="Rd085da53580247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fb2e672bd444f" /><Relationship Type="http://schemas.openxmlformats.org/officeDocument/2006/relationships/notesSlide" Target="/ppt/notesSlides/notesSlide13.xml" Id="R280fedf0d05d4f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902020b8f4854" /><Relationship Type="http://schemas.openxmlformats.org/officeDocument/2006/relationships/notesSlide" Target="/ppt/notesSlides/notesSlide14.xml" Id="Rccf6285ac3314f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d3c6eebe34c23" /><Relationship Type="http://schemas.openxmlformats.org/officeDocument/2006/relationships/notesSlide" Target="/ppt/notesSlides/notesSlide15.xml" Id="R9d95764a8cdc42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FCD15-975F-40DF-A61C-B74B53E5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52400" cy="476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56B38-4543-4565-8565-1BA6265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858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第一单元 · 第二小节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368E9-A651-4DA9-BDAF-40E268A4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Python是什么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2A55D-9651-474F-9985-26477A48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怎样运行第一段程序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D60EE-F0E7-43C6-8C75-DFCAC57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编程语言　代码　运行　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73DC4-90D6-42BC-B276-4ECF047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143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9E839-BCEF-43BD-B7A5-6F88E3E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81125"/>
            <a:ext cx="214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8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&gt;_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71F1B-0311-41C6-9F2B-CA44490B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95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print("你好，Python！")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1D53E-9B78-4814-BB03-A474E28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48375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1/15　建议用时 20秒</a:t>
            </a:r>
          </a:p>
        </p:txBody>
      </p:sp>
    </p:spTree>
    <p:extLst>
      <p:ext uri="{BB962C8B-B14F-4D97-AF65-F5344CB8AC3E}">
        <p14:creationId xmlns:p14="http://schemas.microsoft.com/office/powerpoint/2010/main" val="789041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DA0F5-8C5E-4311-BE55-9925DDD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本节课完成四件事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D420A-A65A-4C86-B97D-89C498B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2/15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635ED-DF37-486C-86DB-E85A775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40秒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6300-3FEC-48A4-BDDB-5BD86B6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84E40-0886-491D-8398-A3D9E875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6207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认识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7DCBF-0F6D-4E12-B573-B24D80DA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620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说出编程语言和 Python 的作用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F96F-2E39-46DA-B261-0942527C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D76A8-8B35-43D4-9C74-1A6B26C1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找到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C8436-0DD1-4C5B-A1FE-944B56C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527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识别代码编辑区、运行按钮和控制台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393E3-B035-4050-9570-0DBD7E8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ADD48-4769-441A-ACCE-DFD286E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8AB0-4977-4A66-BC54-DFCA53A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4332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让第一段 print() 代码产生结果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F3BA5-303D-42C3-9E37-E30FD0F9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9FA7D-4628-4B2B-9A72-0DC4419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18510-39A8-4944-B70B-DD52C9A0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33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更换输出文字并保存 .py 文件</a:t>
            </a:r>
          </a:p>
        </p:txBody>
      </p:sp>
    </p:spTree>
    <p:extLst>
      <p:ext uri="{BB962C8B-B14F-4D97-AF65-F5344CB8AC3E}">
        <p14:creationId xmlns:p14="http://schemas.microsoft.com/office/powerpoint/2010/main" val="344583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76ACA-16EE-4374-B197-785AC572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上节课留下的问题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0FE45-F2E2-4CCC-932E-8CA3D35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3/15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606EE-A744-4B06-B9FF-768C95C5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45秒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2DDE8-649E-4D6E-8E3C-05B8D470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算法已经想好了，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91161-A774-4401-9E5B-9F33370D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怎样把步骤交给计算机？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06CD4-C80D-4E2B-B1DB-834E078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2286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25B1C-6560-4ACB-BC6A-21D5BFA8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228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6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8C42-4B2A-405D-A09C-D8722AC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927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69A87-651F-4486-AEB3-3ACC721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需要一种计算机能按规则理解的语言</a:t>
            </a:r>
          </a:p>
        </p:txBody>
      </p:sp>
    </p:spTree>
    <p:extLst>
      <p:ext uri="{BB962C8B-B14F-4D97-AF65-F5344CB8AC3E}">
        <p14:creationId xmlns:p14="http://schemas.microsoft.com/office/powerpoint/2010/main" val="426505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76D85-7F57-4F7B-BEB0-F34824C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人和计算机之间的沟通桥梁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4E087-0732-455B-A8CB-9D57299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4/15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8DCC4-11FB-4BB5-978C-817C5614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55秒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D1DF5-EB5D-42F7-8034-A468ACF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2714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C7CF3-CD49-4966-9209-7AD71EE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240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E6BC9-ACA6-4B20-8C5A-2FA501F2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28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人的想法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2C0D3-19BF-444F-A01F-310C7D7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99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计算圆的面积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47BC3-99B0-4D5A-B249-9656D1AF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2714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FD98-00FE-4AD1-B77E-7C1E196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193BF-90A9-4332-80C0-8344E49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28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编程语言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F822E-AF9A-4A59-9831-E1B2676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把步骤写成代码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5C408-D8C4-4568-B0AC-01E81DE8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2714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84357-AB87-4F75-8101-7C442875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240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8FA86-F7A4-4CB7-8702-B715A5F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28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计算机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EC88A-98D4-46EB-9628-92CCB3F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099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按代码执行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12A1C-A481-4CDE-947A-4933B9E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10125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编程语言提供固定的词语和书写规则</a:t>
            </a:r>
          </a:p>
        </p:txBody>
      </p:sp>
    </p:spTree>
    <p:extLst>
      <p:ext uri="{BB962C8B-B14F-4D97-AF65-F5344CB8AC3E}">
        <p14:creationId xmlns:p14="http://schemas.microsoft.com/office/powerpoint/2010/main" val="1772482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C25B0-FF3C-4604-8EE6-252E4CD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编程语言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65274-451F-41B7-89FF-820C859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5/15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2613D-CC00-4465-A17D-B119E1AF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55秒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2FAD3-4BAF-417A-9471-80FD28A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人们按照固定规则，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BB48-03DA-472C-999B-46040A2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向计算机写指令时使用的语言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62059-0176-4489-A323-223C555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4619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8B95D-F4F2-490C-9559-619BA367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4619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3383F-32FC-46CC-9712-D31B78B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自然语言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2606E-9B2B-4C14-A159-B043551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7672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有时可以根据经验理解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50C56-42F1-4EB7-9EB6-A688A04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编程语言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56645-17D9-4BB6-9CFD-2C94F86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必须遵守拼写和符号规则</a:t>
            </a:r>
          </a:p>
        </p:txBody>
      </p:sp>
    </p:spTree>
    <p:extLst>
      <p:ext uri="{BB962C8B-B14F-4D97-AF65-F5344CB8AC3E}">
        <p14:creationId xmlns:p14="http://schemas.microsoft.com/office/powerpoint/2010/main" val="1246496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D9C63-55C8-4552-83B6-E56960DB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Python 是一种编程语言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C4FE5-51D3-4BBE-9C3C-07A88A84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6/15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B892E-B19E-44BB-9A03-D1E9B858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50秒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19C10-10A6-4CB6-8B4F-7A291707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0F074-1A9B-4AB2-9A6A-BBC89025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66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0AF14-CE1C-4016-AA3B-0AA38D9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F0FA5-E5F6-43B0-87FF-C6490918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04950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我们用 Python 把想法写成代码，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A5AED-9901-4D7B-A1A8-00F9408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再让计算机运行这些代码。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EFFD1-6D64-42FD-80CC-4D0B6F5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6572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CA714-C124-467F-9A92-188B4309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书写比较直观，适合初学者练习</a:t>
            </a:r>
          </a:p>
        </p:txBody>
      </p:sp>
    </p:spTree>
    <p:extLst>
      <p:ext uri="{BB962C8B-B14F-4D97-AF65-F5344CB8AC3E}">
        <p14:creationId xmlns:p14="http://schemas.microsoft.com/office/powerpoint/2010/main" val="1453955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29D62-58C2-4C59-98E2-D618605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第一段 Python 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789EB-5A92-4EA5-BF7B-52B2ADE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7/15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403B3-DB80-4520-836E-FD724E36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41628-C8E9-4F13-83E9-15B29712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90675"/>
            <a:ext cx="962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print("你好，Python！")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7102B-C7E6-4E45-9582-008842EC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5810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F0DC-A257-4B98-84B2-9F760F0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你好，Python！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F847A-EF49-47C9-9DDA-F07AC75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代码运行后，文字出现在控制台</a:t>
            </a:r>
          </a:p>
        </p:txBody>
      </p:sp>
    </p:spTree>
    <p:extLst>
      <p:ext uri="{BB962C8B-B14F-4D97-AF65-F5344CB8AC3E}">
        <p14:creationId xmlns:p14="http://schemas.microsoft.com/office/powerpoint/2010/main" val="2027076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3277C-AB85-4EB0-B9E3-7C1D36C0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一行代码的四个部分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83F85-9A0D-4684-8F0F-D0452841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8/15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59AA7-6BDA-4B11-ADBF-64B0BE1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1分15秒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4D69F-8F35-4A3D-86C0-BAED71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478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FEF2F-06AB-4DB5-862E-C0CF2B32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4780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53ACA-5E21-449F-A506-584C1BC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4780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6A544-58C4-45DB-A571-8D17026B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478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你好，Python！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511CF-1E95-463D-B08D-ADE30E27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4780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E6AA5-ECC0-4B9B-8C03-1AC3EF5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4780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D399C-25B9-4EEC-8805-9068743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78564-FF62-4249-827D-99707117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DA8C5-42D8-46AB-8448-D1D6CF9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输出命令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AECF-8DE8-4F35-B22C-7CDEE13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52457-5229-44BD-B641-706BA315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242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( 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362C7-5F26-4F46-8980-40D6229E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766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英文括号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75764-C087-4A93-883A-3045F934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D1AD3-9CF5-4EB7-AC79-707BAF50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" 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F2650-AC3B-4B3A-AB00-7BA97A02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766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英文引号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D8244-03BD-4629-9082-7AF1037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69A23-8C97-4F64-9DEE-5AABD11C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242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文字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452A9-80F1-4620-A36E-08142DED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766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想显示的内容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5B7C9-29C4-48EA-8D44-4E846F7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符号使用英文输入法</a:t>
            </a:r>
          </a:p>
        </p:txBody>
      </p:sp>
    </p:spTree>
    <p:extLst>
      <p:ext uri="{BB962C8B-B14F-4D97-AF65-F5344CB8AC3E}">
        <p14:creationId xmlns:p14="http://schemas.microsoft.com/office/powerpoint/2010/main" val="1789700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36F63-8062-49B8-AC16-69407AB3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编程界面的三个位置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F8835-7D5B-4221-9064-5A0F4A2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9/15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0E55F-7F61-4CD5-A7EB-316F8E8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1分15秒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17A83-FF19-472B-8F7C-1800B53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66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F9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3003F-17CF-459A-9A38-A91FF8D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6286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B68A-65D2-49F3-B190-801510C4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1  代码编辑区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C588E-136C-4790-B699-CE9EE11E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547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print("你好，Python！")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94D9D-9523-4153-9539-78D09AA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71625"/>
            <a:ext cx="285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2499F-86B6-4110-AE3E-6FB6711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  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F373E-ED38-4581-970C-4BA794B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93207-B42A-4F73-B3E9-BA860C3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3  控制台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81097-95FF-4558-9AB8-22AB6DB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你好，Python！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30FF-333E-4180-8185-7A966F05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197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写代码　启动运行　查看结果</a:t>
            </a:r>
          </a:p>
        </p:txBody>
      </p:sp>
    </p:spTree>
    <p:extLst>
      <p:ext uri="{BB962C8B-B14F-4D97-AF65-F5344CB8AC3E}">
        <p14:creationId xmlns:p14="http://schemas.microsoft.com/office/powerpoint/2010/main" val="2014986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52CAE-61DA-4CF6-A886-DCB173BE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第一次运行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3ECD0-378B-4970-836C-E0E4114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10/15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2FE6E-7319-49A1-B0FC-B6981F9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5CB7B-00BD-4C42-9FD3-BB8A9AF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B0D4-F04A-4E11-BEDB-8E0F328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34D37-8789-4BA9-BE56-6A487A4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095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A9F4B-44F0-4CBC-A03C-3128B24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77C98-F462-4F3E-9191-3B8ECDE8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在编辑区写好代码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8AA19-81AC-4735-BA6A-861FF9A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38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8394E-7302-463A-8EC4-C5FB60FC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38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B29E6-D742-4EEA-8FCC-A74F3101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095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E64BD-FDE6-40B6-BF73-D5BC9950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D6C6C-385B-4EEF-ADBC-9E88870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5275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点击运行按钮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2700D-B9EB-4A42-89A4-1588495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38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A3D39-BA64-405C-817A-9AE125F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38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6CCF6-08F0-45C9-8142-992ACB26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095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24372-AA16-4F05-BF34-B0DC57F7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核对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8BE94-B762-408B-A4E7-F65B447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查看控制台结果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4A051-618C-416C-919A-339825F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619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05AD4-5AFC-4DAB-A23E-8E3BD928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结果和预想一样吗？</a:t>
            </a:r>
          </a:p>
        </p:txBody>
      </p:sp>
    </p:spTree>
    <p:extLst>
      <p:ext uri="{BB962C8B-B14F-4D97-AF65-F5344CB8AC3E}">
        <p14:creationId xmlns:p14="http://schemas.microsoft.com/office/powerpoint/2010/main" val="232835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6B54-38C8-421E-A423-5EB6E6A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先预测，再运行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447C9-E26D-483C-ABE9-FE35629C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11/15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CE4DC-4842-4623-9CAE-DA01558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2F9E3-E9E2-47C5-9BF4-066E7482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6000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B916-9C5B-4706-AE8D-7886CBE2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print("第一行")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print("第二行")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DC545-793A-44B8-B5AF-8D0A2CCF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运行结果有几行？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94B09-E30B-4BFC-B7A0-02BFE16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先显示哪一行？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1C35F-8275-422E-B3A3-EBF0CE0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333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379C1-846E-495E-909C-A498948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同桌说出预测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D7249-582A-45D2-9B1B-1587B9C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Python 从上到下执行这两行代码</a:t>
            </a:r>
          </a:p>
        </p:txBody>
      </p:sp>
    </p:spTree>
    <p:extLst>
      <p:ext uri="{BB962C8B-B14F-4D97-AF65-F5344CB8AC3E}">
        <p14:creationId xmlns:p14="http://schemas.microsoft.com/office/powerpoint/2010/main" val="1065385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86E6F-F1D4-4E5B-952F-927BAF53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三个常见符号错误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D0A89-902D-4531-9F1F-8E4E42C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12/15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4A0F2-4C37-4C62-8E15-F4D7E248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1分20秒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D7FF-23DA-4B96-87DE-0C15D6F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9F05D-97CD-410E-95B0-EB7DD0F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430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print(“你好”)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BC89D-EE77-4290-BF1F-344342C4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中文引号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CA229-4D77-4C65-94B4-6D5DE4A5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90625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BBF07-8D15-4698-858F-BB9CB7A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0175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print("你好")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C4670-4B26-4783-9AE2-4FD6A0EF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24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修改为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E05B-5EDF-40BB-BD91-2B2CDA8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A970F-1E96-46E2-B2ED-996E6144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print("你好)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75458-1ED1-420B-9AEE-099F0A2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少一个引号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5E207-2822-4FA1-9F32-7E38525C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80D0F-FEDB-4802-8694-B2810F69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765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print("你好")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A68FF-D03A-436E-862E-0876F48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0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修改为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10A57-897E-4043-AE58-5AA18ACD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2680A-65B2-4325-BB4F-66DE5BC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print("你好"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5F549-DEB7-4163-B873-5B24CFA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少右括号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11648-5613-419B-87DA-CFB9BDD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43375"/>
            <a:ext cx="4333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2E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239DA-BCCF-498A-8ACC-5045F65F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52925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3A56B"/>
                </a:solidFill>
                <a:latin typeface="Hiragino Sans GB"/>
                <a:ea typeface="Hiragino Sans GB"/>
                <a:cs typeface="Hiragino Sans GB"/>
              </a:rPr>
              <a:t>print("你好")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43829-D2F4-4668-AF44-18D81F6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76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修改为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60D6A-78B2-4886-B187-EDBAC49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报错并不可怕，先检查引号和括号</a:t>
            </a:r>
          </a:p>
        </p:txBody>
      </p:sp>
    </p:spTree>
    <p:extLst>
      <p:ext uri="{BB962C8B-B14F-4D97-AF65-F5344CB8AC3E}">
        <p14:creationId xmlns:p14="http://schemas.microsoft.com/office/powerpoint/2010/main" val="1597890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3FB69-EC05-4274-AAB2-8D59D16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保存 Python 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05929-0901-42C7-90D3-FD29449E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13/15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0D4E8-C396-46C1-B30F-0946EF73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55秒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6FA54-0082-42F2-A056-40F2292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4000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64568-9B87-4F5B-B7CC-9B3490E0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hello.py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E627B-54A6-4BFE-8F8D-C7EA220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.py 表示 Python 代码文件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F0B0-4773-408D-878D-1E7768A5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573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6435E-F285-45EC-8ADE-8AEB8F5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57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01529-BBD4-4EB4-8B49-C6221C7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文件名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968F4-64B0-4E25-B65B-C50083F2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383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短且容易识别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567A1-4B1E-472F-8D12-5386A10B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47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D0B4E-CEEB-4875-8D43-1F87CA62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47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CACFA-E950-45CC-B50E-83DFCBDD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保存位置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20EB3-4228-488C-92AD-C469A75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选择指定文件夹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C8E6E-5181-4E54-A03C-F2EAD94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385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FE025-14E4-4913-8716-B285C17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385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A1C6C-5B7B-4CAB-AC04-5B5008B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保存时机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021C2-AEEC-4005-902C-9AE80230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9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修改后及时保存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3534A-4F2E-4427-A10B-00BA15C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2855A"/>
                </a:solidFill>
                <a:latin typeface="Hiragino Sans GB"/>
                <a:ea typeface="Hiragino Sans GB"/>
                <a:cs typeface="Hiragino Sans GB"/>
              </a:rPr>
              <a:t>记住文件保存在哪里，下次才能继续修改</a:t>
            </a:r>
          </a:p>
        </p:txBody>
      </p:sp>
    </p:spTree>
    <p:extLst>
      <p:ext uri="{BB962C8B-B14F-4D97-AF65-F5344CB8AC3E}">
        <p14:creationId xmlns:p14="http://schemas.microsoft.com/office/powerpoint/2010/main" val="1669353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27BB8-3E67-457D-91AF-E4F7A91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动手任务：我的第一段程序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FE247-40F5-4948-BA99-4F33BAD2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14/15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41294-ED16-4EFD-A256-4A3C8E97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B7C8E"/>
                </a:solidFill>
                <a:latin typeface="Hiragino Sans GB"/>
                <a:ea typeface="Hiragino Sans GB"/>
                <a:cs typeface="Hiragino Sans GB"/>
              </a:rPr>
              <a:t>建议用时 1分15秒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55741-35B7-42D5-8752-29C0A5F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96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E0524-B261-4493-99FF-B4534A5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9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8E5AA-A7B3-420C-A316-2FB8201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14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842A5-C0C4-4727-BA76-E058B48C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144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print("你好，Python！")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5343D-F805-465F-8CFD-1FE99C6F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A2BEA-9FAD-4463-866A-AFB54C38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8941C-CB6B-4004-8A23-AEDAFF42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05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修改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2EB1D-F269-4280-8F73-DF0D10A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把文字改成自己的问候语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50652-1CE6-4A25-8C65-F1E66A88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909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BFCBC-ABEC-4115-931C-11391B6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909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8DD02-EC2C-4E1C-B255-694EA6E4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956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9DD84-29DB-4291-B35A-B382787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再写一行 print()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FE6BE-E91C-4E09-A6AA-7AE02D5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1F7E9-9392-4650-8CF3-ED44E83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FE0C4-E7AC-43E1-9CC9-A786D4C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863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A77D0-2709-444A-B740-EFCF6467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文件名为 hello.py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840AD-3E11-46EF-907D-0C315FEB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10250"/>
            <a:ext cx="7905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82BD0-FF16-4E34-B481-DB28A78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578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完成标志：控制台出现两行正确文字</a:t>
            </a:r>
          </a:p>
        </p:txBody>
      </p:sp>
    </p:spTree>
    <p:extLst>
      <p:ext uri="{BB962C8B-B14F-4D97-AF65-F5344CB8AC3E}">
        <p14:creationId xmlns:p14="http://schemas.microsoft.com/office/powerpoint/2010/main" val="67911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A6E1A-7690-4A6A-A89F-F70E13D0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本节检测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B607E-20D3-42BF-8A91-75D6948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15/15　建议用时 55秒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6D5CA-6444-4BE7-A15D-E8455B0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1379B-0772-4DEE-8446-D4D6779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78A2-181C-486C-8A89-8C32F16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Python 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393D6-A754-467C-96C9-034BEC8E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12FE4-9AD0-496F-B9B2-3A235B3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00F71-2EDA-45AF-89E2-C2E18AE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47925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print() 的作用是什么？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0EA92-921D-4729-B216-62768A71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83E1-41C6-47C3-9388-C3E980E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13FC7-0ACE-40C6-96C6-3F5CAD2E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写完代码后，在哪里查看结果？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A50E2-57DF-48AA-94E7-EEDB525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7EDF8-252D-494A-B12A-1381175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05425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关键词：编程语言　Python　print()　运行　控制台</a:t>
            </a:r>
          </a:p>
        </p:txBody>
      </p:sp>
    </p:spTree>
    <p:extLst>
      <p:ext uri="{BB962C8B-B14F-4D97-AF65-F5344CB8AC3E}">
        <p14:creationId xmlns:p14="http://schemas.microsoft.com/office/powerpoint/2010/main" val="1361730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2026-09-14T01:53:36.8590000Z</dcterms:created>
  <dcterms:modified xsi:type="dcterms:W3CDTF">2026-09-14T01:53:36.8590000Z</dcterms:modified>
</coreProperties>
</file>